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394" r:id="rId3"/>
    <p:sldId id="424" r:id="rId4"/>
    <p:sldId id="428" r:id="rId5"/>
    <p:sldId id="431" r:id="rId6"/>
    <p:sldId id="432" r:id="rId7"/>
    <p:sldId id="433" r:id="rId8"/>
    <p:sldId id="434" r:id="rId9"/>
    <p:sldId id="435" r:id="rId10"/>
    <p:sldId id="437" r:id="rId11"/>
    <p:sldId id="438" r:id="rId12"/>
    <p:sldId id="439" r:id="rId13"/>
    <p:sldId id="440" r:id="rId14"/>
    <p:sldId id="441" r:id="rId15"/>
    <p:sldId id="442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ADACCDD-DCAB-4ED0-919A-E792EDBF58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9FF1B23F-E2A3-457D-8F92-CED1B26949F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E21DE7-260A-4C9D-A2DF-D759F27D759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81A6B-D7A7-44DE-A9FF-32A228D83A8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A76F5F-DF95-442D-B8A7-2AC09DC3D86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A5D2FB-1851-4508-99A0-B09F35BCD75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2EEE1-E63C-4FF9-A8FA-88FCB4877BA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E707E2-42C0-4CA9-B311-5D3B4E1F00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466A01-C583-47DD-B984-9FB9FBEBB54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6D5BF3-4397-4AC8-96ED-3A4B9DDFDB5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4A7D76-FC5E-4C80-840F-E38BBB23EB2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4EDCDD-B94C-4ADA-A60E-3CA27ABC9B8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5FE2F6-E4EA-47CB-9B88-D4501E71D57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CB22A1-ECD2-4DFA-A538-60BF7A27F14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FE46E8-C456-49D9-9BDA-8909E20DBD2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22BFDEC-FCBB-49DE-A0FA-3B361D499D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53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A5F62-41D1-4BDE-98B4-A345B81631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F1523-B76B-4533-9863-DBCD825F67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43A71-5665-4D7E-B1B1-7349F3148D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D0F2A-B67E-4CD9-836B-51B3ACC352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156DC-1DD0-4528-AD00-89059DA56D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B799F-B540-4526-A3BF-E55FC907A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7BF1A-AB91-4068-9EFD-A173C3631A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14394-D50C-474D-87AA-05A1CF1F1A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83A2-C87C-4DA5-8F0A-2CD70C00AB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AA5BB-444E-4FD8-B693-B4B1529C1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83B55C8-E815-450D-B67D-C0E2B20366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C09D661D-BFBD-4441-8755-4DB5B172C7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8763000" cy="1905000"/>
          </a:xfrm>
        </p:spPr>
        <p:txBody>
          <a:bodyPr/>
          <a:lstStyle/>
          <a:p>
            <a:pPr algn="ctr"/>
            <a:r>
              <a:rPr lang="en-US" b="1"/>
              <a:t>  Design </a:t>
            </a:r>
            <a:r>
              <a:rPr lang="en-US" b="1" dirty="0"/>
              <a:t>and 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114800"/>
            <a:ext cx="6629400" cy="160020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 and reference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Introduction to Algorithms (Text Book)</a:t>
            </a:r>
          </a:p>
          <a:p>
            <a:pPr>
              <a:buNone/>
            </a:pPr>
            <a:r>
              <a:rPr lang="en-US" dirty="0"/>
              <a:t>	Thomas H. </a:t>
            </a:r>
            <a:r>
              <a:rPr lang="en-US" dirty="0" err="1"/>
              <a:t>Cormen</a:t>
            </a:r>
            <a:r>
              <a:rPr lang="en-US" dirty="0"/>
              <a:t>, Charles E. </a:t>
            </a:r>
            <a:r>
              <a:rPr lang="en-US" dirty="0" err="1"/>
              <a:t>Leiserson</a:t>
            </a:r>
            <a:r>
              <a:rPr lang="en-US" dirty="0"/>
              <a:t>, Ronald L. </a:t>
            </a:r>
            <a:r>
              <a:rPr lang="en-US" dirty="0" err="1"/>
              <a:t>Rivest</a:t>
            </a:r>
            <a:r>
              <a:rPr lang="en-US" dirty="0"/>
              <a:t>, and Clifford Stein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sz="2800" i="1" dirty="0"/>
              <a:t>Third Edition, MIT Press</a:t>
            </a:r>
          </a:p>
          <a:p>
            <a:r>
              <a:rPr lang="en-US" sz="2800" dirty="0"/>
              <a:t>Any web material (consult authentic material e.g. on some university’s website)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415938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Algorithm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74825"/>
            <a:ext cx="8915400" cy="4625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An algorithm is a well-defined and effective sequence of computation steps that takes some value, or set of values, as input and produces some value, or set of values, as output.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Questions?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What are algorithms?</a:t>
            </a:r>
          </a:p>
          <a:p>
            <a:pPr eaLnBrk="1" hangingPunct="1"/>
            <a:r>
              <a:rPr lang="en-US"/>
              <a:t>Why is the study of algorithms worthwhile?</a:t>
            </a:r>
          </a:p>
          <a:p>
            <a:pPr eaLnBrk="1" hangingPunct="1"/>
            <a:r>
              <a:rPr lang="en-US"/>
              <a:t>What is the role of algorithms relative to other technologies used in computers?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Example: sorting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Input: A sequence of n numbers &lt;a1,a2,a3…an&gt;</a:t>
            </a:r>
          </a:p>
          <a:p>
            <a:pPr eaLnBrk="1" hangingPunct="1"/>
            <a:r>
              <a:rPr lang="en-US"/>
              <a:t>Output: A permutation (re-ordering) &lt;b1,b2,b3…bn&gt; of the input sequence such that b1&lt;b2&lt;b3…&lt;bn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Correctness of an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An algorithm is said to be correct if, for every </a:t>
            </a:r>
            <a:r>
              <a:rPr lang="en-US" b="1" u="sng" dirty="0"/>
              <a:t>input instance</a:t>
            </a:r>
            <a:r>
              <a:rPr lang="en-US" dirty="0"/>
              <a:t>, it halts with the correct output.</a:t>
            </a:r>
          </a:p>
          <a:p>
            <a:pPr eaLnBrk="1" hangingPunct="1"/>
            <a:r>
              <a:rPr lang="en-US" dirty="0"/>
              <a:t>An incorrect algorithm </a:t>
            </a:r>
          </a:p>
          <a:p>
            <a:pPr lvl="1" eaLnBrk="1" hangingPunct="1"/>
            <a:r>
              <a:rPr lang="en-US" dirty="0"/>
              <a:t>might not halt at all on some input instances, or</a:t>
            </a:r>
          </a:p>
          <a:p>
            <a:pPr lvl="1" eaLnBrk="1" hangingPunct="1"/>
            <a:r>
              <a:rPr lang="en-US" dirty="0"/>
              <a:t>It might halt with an answer other than desired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Problems solved by algorithms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Sorting/searching are by no mean the only computational problem for which algorithms have been developed.</a:t>
            </a:r>
          </a:p>
          <a:p>
            <a:pPr eaLnBrk="1" hangingPunct="1"/>
            <a:r>
              <a:rPr lang="en-US" dirty="0"/>
              <a:t>Otherwise, we wouldn’t have the whole course on this topic</a:t>
            </a:r>
          </a:p>
          <a:p>
            <a:pPr eaLnBrk="1" hangingPunct="1"/>
            <a:r>
              <a:rPr lang="en-US" dirty="0"/>
              <a:t>Practical application of algorithms are </a:t>
            </a:r>
            <a:r>
              <a:rPr lang="en-US" u="sng" dirty="0"/>
              <a:t>ubiquitous</a:t>
            </a:r>
            <a:r>
              <a:rPr lang="en-US" dirty="0"/>
              <a:t> and include the following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Practical applications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Internet world</a:t>
            </a:r>
          </a:p>
          <a:p>
            <a:pPr eaLnBrk="1" hangingPunct="1"/>
            <a:r>
              <a:rPr lang="en-US"/>
              <a:t>Electronic commerce </a:t>
            </a:r>
          </a:p>
          <a:p>
            <a:pPr eaLnBrk="1" hangingPunct="1"/>
            <a:r>
              <a:rPr lang="en-US"/>
              <a:t>Manufacturing and other commercial settings</a:t>
            </a:r>
          </a:p>
          <a:p>
            <a:pPr eaLnBrk="1" hangingPunct="1"/>
            <a:r>
              <a:rPr lang="en-US"/>
              <a:t>Shortest path</a:t>
            </a:r>
          </a:p>
          <a:p>
            <a:pPr eaLnBrk="1" hangingPunct="1"/>
            <a:r>
              <a:rPr lang="en-US"/>
              <a:t>Matrices multiplication order</a:t>
            </a:r>
          </a:p>
          <a:p>
            <a:pPr eaLnBrk="1" hangingPunct="1"/>
            <a:r>
              <a:rPr lang="en-US"/>
              <a:t>DNA sequence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Common about algorithms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There are many candidate solutions, most of which are not what we want, finding one that we do want can present quite a challenge.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There are practical applications (its not just mathematical exercises to develop algorithms.)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Why Study Algorithms and Performance of Algorithms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 dirty="0"/>
              <a:t>Algorithms help us to understand </a:t>
            </a:r>
            <a:r>
              <a:rPr lang="en-US" dirty="0">
                <a:solidFill>
                  <a:srgbClr val="FF0000"/>
                </a:solidFill>
              </a:rPr>
              <a:t>scalability.</a:t>
            </a:r>
          </a:p>
          <a:p>
            <a:pPr eaLnBrk="1" hangingPunct="1"/>
            <a:r>
              <a:rPr lang="en-US" dirty="0"/>
              <a:t>Performance often draws the line between what is feasible and what is impossible.</a:t>
            </a:r>
          </a:p>
          <a:p>
            <a:pPr eaLnBrk="1" hangingPunct="1"/>
            <a:r>
              <a:rPr lang="en-US" dirty="0"/>
              <a:t>Algorithmic mathematics provides a</a:t>
            </a:r>
            <a:r>
              <a:rPr lang="en-US" dirty="0">
                <a:solidFill>
                  <a:srgbClr val="FF0000"/>
                </a:solidFill>
              </a:rPr>
              <a:t> language </a:t>
            </a:r>
            <a:r>
              <a:rPr lang="en-US" dirty="0"/>
              <a:t>for talking about program behavior.</a:t>
            </a:r>
          </a:p>
          <a:p>
            <a:pPr eaLnBrk="1" hangingPunct="1"/>
            <a:r>
              <a:rPr lang="en-US" dirty="0"/>
              <a:t>Performance is the </a:t>
            </a:r>
            <a:r>
              <a:rPr lang="en-US" dirty="0">
                <a:solidFill>
                  <a:srgbClr val="FF0000"/>
                </a:solidFill>
              </a:rPr>
              <a:t>currency</a:t>
            </a:r>
            <a:r>
              <a:rPr lang="en-US" dirty="0"/>
              <a:t> of computing.</a:t>
            </a:r>
          </a:p>
          <a:p>
            <a:pPr eaLnBrk="1" hangingPunct="1"/>
            <a:r>
              <a:rPr lang="en-US" dirty="0"/>
              <a:t>The lessons of program performance generalize to other computing resources. </a:t>
            </a:r>
          </a:p>
          <a:p>
            <a:pPr eaLnBrk="1" hangingPunct="1"/>
            <a:r>
              <a:rPr lang="en-US" dirty="0"/>
              <a:t>Speed is fun!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Abstract Data Type 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Helvetica" pitchFamily="34" charset="0"/>
              </a:rPr>
              <a:t>A definition for a data type solely in terms of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pitchFamily="34" charset="0"/>
              </a:rPr>
              <a:t>a set of values and 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pitchFamily="34" charset="0"/>
              </a:rPr>
              <a:t>set of operations on that data type.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>
              <a:latin typeface="Helvetica" pitchFamily="34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Helvetica" pitchFamily="34" charset="0"/>
              </a:rPr>
              <a:t>The definition consists of: </a:t>
            </a:r>
          </a:p>
          <a:p>
            <a:pPr>
              <a:lnSpc>
                <a:spcPct val="20000"/>
              </a:lnSpc>
              <a:buFont typeface="Wingdings" pitchFamily="2" charset="2"/>
              <a:buNone/>
            </a:pPr>
            <a:endParaRPr lang="en-US" dirty="0">
              <a:latin typeface="Helvetica" pitchFamily="34" charset="0"/>
            </a:endParaRPr>
          </a:p>
          <a:p>
            <a:pPr>
              <a:lnSpc>
                <a:spcPct val="20000"/>
              </a:lnSpc>
              <a:buFont typeface="Wingdings" pitchFamily="2" charset="2"/>
              <a:buNone/>
            </a:pPr>
            <a:endParaRPr lang="en-US" dirty="0">
              <a:latin typeface="Helvetica" pitchFamily="34" charset="0"/>
            </a:endParaRPr>
          </a:p>
          <a:p>
            <a:pPr marL="742950" lvl="2" indent="-457200"/>
            <a:r>
              <a:rPr lang="en-US" altLang="en-US" b="1" dirty="0">
                <a:latin typeface="Helvetica" pitchFamily="34" charset="0"/>
              </a:rPr>
              <a:t>storage structures (data structures)  to store the data items  </a:t>
            </a:r>
          </a:p>
          <a:p>
            <a:pPr marL="742950" lvl="2" indent="-457200">
              <a:buNone/>
            </a:pPr>
            <a:r>
              <a:rPr lang="en-US" altLang="en-US" b="1" dirty="0">
                <a:latin typeface="Helvetica" pitchFamily="34" charset="0"/>
              </a:rPr>
              <a:t>			and</a:t>
            </a:r>
          </a:p>
          <a:p>
            <a:pPr marL="742950" lvl="2" indent="-457200"/>
            <a:r>
              <a:rPr lang="en-US" altLang="en-US" b="1" dirty="0">
                <a:latin typeface="Helvetica" pitchFamily="34" charset="0"/>
              </a:rPr>
              <a:t>algorithms for the basic operations.</a:t>
            </a:r>
          </a:p>
          <a:p>
            <a:pPr marL="514350" indent="-514350">
              <a:lnSpc>
                <a:spcPct val="90000"/>
              </a:lnSpc>
            </a:pPr>
            <a:endParaRPr lang="en-US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What  is a Data Structure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data structure</a:t>
            </a:r>
            <a:r>
              <a:rPr lang="en-US"/>
              <a:t> is a way to store and organize data in order to facilitate access and modifications.</a:t>
            </a:r>
          </a:p>
          <a:p>
            <a:pPr eaLnBrk="1" hangingPunct="1"/>
            <a:r>
              <a:rPr lang="en-US"/>
              <a:t>No single data structure works well for all purposes</a:t>
            </a:r>
          </a:p>
          <a:p>
            <a:pPr eaLnBrk="1" hangingPunct="1"/>
            <a:r>
              <a:rPr lang="en-US"/>
              <a:t>Need to know the strengths and limitations of several of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Technique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Can’t get a “cookbook” for algorithms?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Many problems you will encounter don’t have any published algorithm.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So need to learn “techniques” of algorithms design and analysis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So you develop algorithms in your own, show that they give correct answer and understand their efficiency.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We will learn several such techniques in later part of this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Algorithms and other technologies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Is an algorithm a technology like hardware, etc?</a:t>
            </a:r>
          </a:p>
          <a:p>
            <a:pPr eaLnBrk="1" hangingPunct="1"/>
            <a:r>
              <a:rPr lang="en-US"/>
              <a:t>Total system performance depends on choosing “efficient” algorithms as much as choosing fast hardware.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/>
              <a:t>Algorithms and other advanced technologies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6106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Hardware with high clock rates, pipelining and superscalar architecture.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Easy to use graphical user interface (GUI’s)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Object oriented systems.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Local-area and wide-area networking.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Are algorithms as important as above technologies?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641</Words>
  <Application>Microsoft Office PowerPoint</Application>
  <PresentationFormat>On-screen Show (4:3)</PresentationFormat>
  <Paragraphs>86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Garamond</vt:lpstr>
      <vt:lpstr>Helvetica</vt:lpstr>
      <vt:lpstr>Wingdings</vt:lpstr>
      <vt:lpstr>Edge</vt:lpstr>
      <vt:lpstr>  Design and Analysis of Algorithms</vt:lpstr>
      <vt:lpstr>Text book and reference material</vt:lpstr>
      <vt:lpstr>Algorithm</vt:lpstr>
      <vt:lpstr>Questions?</vt:lpstr>
      <vt:lpstr>Example: sorting</vt:lpstr>
      <vt:lpstr>Correctness of an algorithm</vt:lpstr>
      <vt:lpstr>Problems solved by algorithms</vt:lpstr>
      <vt:lpstr>Practical applications</vt:lpstr>
      <vt:lpstr>Common about algorithms</vt:lpstr>
      <vt:lpstr>Why Study Algorithms and Performance of Algorithms</vt:lpstr>
      <vt:lpstr>What is Abstract Data Type </vt:lpstr>
      <vt:lpstr>What  is a Data Structure</vt:lpstr>
      <vt:lpstr>Technique</vt:lpstr>
      <vt:lpstr>Algorithms and other technologies</vt:lpstr>
      <vt:lpstr>Algorithms and other advanced technologies</vt:lpstr>
    </vt:vector>
  </TitlesOfParts>
  <Company>UIBK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dc:creator>Dr. Kashif Munir</dc:creator>
  <cp:lastModifiedBy>FAHEEM SHAUKAT</cp:lastModifiedBy>
  <cp:revision>731</cp:revision>
  <dcterms:created xsi:type="dcterms:W3CDTF">2005-10-13T05:19:49Z</dcterms:created>
  <dcterms:modified xsi:type="dcterms:W3CDTF">2026-03-29T20:24:22Z</dcterms:modified>
</cp:coreProperties>
</file>