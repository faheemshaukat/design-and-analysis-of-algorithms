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17"/>
  </p:notesMasterIdLst>
  <p:handoutMasterIdLst>
    <p:handoutMasterId r:id="rId18"/>
  </p:handoutMasterIdLst>
  <p:sldIdLst>
    <p:sldId id="418" r:id="rId2"/>
    <p:sldId id="399" r:id="rId3"/>
    <p:sldId id="400" r:id="rId4"/>
    <p:sldId id="401" r:id="rId5"/>
    <p:sldId id="407" r:id="rId6"/>
    <p:sldId id="408" r:id="rId7"/>
    <p:sldId id="409" r:id="rId8"/>
    <p:sldId id="410" r:id="rId9"/>
    <p:sldId id="411" r:id="rId10"/>
    <p:sldId id="412" r:id="rId11"/>
    <p:sldId id="413" r:id="rId12"/>
    <p:sldId id="414" r:id="rId13"/>
    <p:sldId id="415" r:id="rId14"/>
    <p:sldId id="416" r:id="rId15"/>
    <p:sldId id="417" r:id="rId16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66"/>
    <a:srgbClr val="00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542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t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endParaRPr lang="en-US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endParaRPr lang="en-US"/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b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endParaRPr lang="en-US"/>
          </a:p>
        </p:txBody>
      </p:sp>
      <p:sp>
        <p:nvSpPr>
          <p:cNvPr id="337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fld id="{BADACCDD-DCAB-4ED0-919A-E792EDBF588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t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endParaRPr lang="en-US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endParaRPr lang="en-US"/>
          </a:p>
        </p:txBody>
      </p:sp>
      <p:sp>
        <p:nvSpPr>
          <p:cNvPr id="184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84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4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b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endParaRPr lang="en-US"/>
          </a:p>
        </p:txBody>
      </p:sp>
      <p:sp>
        <p:nvSpPr>
          <p:cNvPr id="184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fld id="{9FF1B23F-E2A3-457D-8F92-CED1B26949FB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22532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F22BFDEC-FCBB-49DE-A0FA-3B361D499DF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2535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36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8A5F62-41D1-4BDE-98B4-A345B816315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DF1523-B76B-4533-9863-DBCD825F67F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543A71-5665-4D7E-B1B1-7349F3148D7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2D0F2A-B67E-4CD9-836B-51B3ACC3521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C156DC-1DD0-4528-AD00-89059DA56DB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BB799F-B540-4526-A3BF-E55FC907AA1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67BF1A-AB91-4068-9EFD-A173C3631A1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D14394-D50C-474D-87AA-05A1CF1F1A6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8883A2-C87C-4DA5-8F0A-2CD70C00ABA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7AA5BB-444E-4FD8-B693-B4B1529C1F4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983B55C8-E815-450D-B67D-C0E2B203665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endParaRPr lang="en-US" altLang="en-US"/>
          </a:p>
        </p:txBody>
      </p:sp>
      <p:sp>
        <p:nvSpPr>
          <p:cNvPr id="2150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+mj-lt"/>
              </a:defRPr>
            </a:lvl1pPr>
          </a:lstStyle>
          <a:p>
            <a:endParaRPr lang="en-US" altLang="en-US"/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j-lt"/>
              </a:defRPr>
            </a:lvl1pPr>
          </a:lstStyle>
          <a:p>
            <a:fld id="{C09D661D-BFBD-4441-8755-4DB5B172C7A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511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12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219200"/>
            <a:ext cx="8763000" cy="1905000"/>
          </a:xfrm>
        </p:spPr>
        <p:txBody>
          <a:bodyPr/>
          <a:lstStyle/>
          <a:p>
            <a:pPr algn="ctr"/>
            <a:r>
              <a:rPr lang="en-US"/>
              <a:t>   Design </a:t>
            </a:r>
            <a:r>
              <a:rPr lang="en-US" dirty="0"/>
              <a:t>and Analysis of Algorithms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3429000"/>
            <a:ext cx="6629400" cy="1600200"/>
          </a:xfrm>
        </p:spPr>
        <p:txBody>
          <a:bodyPr/>
          <a:lstStyle/>
          <a:p>
            <a:pPr algn="ctr">
              <a:lnSpc>
                <a:spcPct val="80000"/>
              </a:lnSpc>
            </a:pPr>
            <a:endParaRPr lang="en-US" sz="2000" dirty="0"/>
          </a:p>
          <a:p>
            <a:pPr algn="ctr">
              <a:lnSpc>
                <a:spcPct val="80000"/>
              </a:lnSpc>
            </a:pPr>
            <a:endParaRPr lang="en-US" sz="2000" dirty="0"/>
          </a:p>
          <a:p>
            <a:pPr algn="ctr">
              <a:lnSpc>
                <a:spcPct val="80000"/>
              </a:lnSpc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575"/>
            <a:ext cx="8229600" cy="1139825"/>
          </a:xfrm>
        </p:spPr>
        <p:txBody>
          <a:bodyPr>
            <a:normAutofit/>
          </a:bodyPr>
          <a:lstStyle/>
          <a:p>
            <a:r>
              <a:rPr lang="en-US" dirty="0"/>
              <a:t>Example Sorting </a:t>
            </a:r>
            <a:r>
              <a:rPr lang="en-US" sz="3600" dirty="0"/>
              <a:t>(Insertion Sort)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46188"/>
            <a:ext cx="8229600" cy="37338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Insertion-Sort(</a:t>
            </a:r>
            <a:r>
              <a:rPr lang="en-US" dirty="0" err="1"/>
              <a:t>A,n</a:t>
            </a:r>
            <a:r>
              <a:rPr lang="en-US" dirty="0"/>
              <a:t>)    </a:t>
            </a:r>
            <a:r>
              <a:rPr lang="en-US" dirty="0">
                <a:sym typeface="Wingdings"/>
              </a:rPr>
              <a:t> A[1 … n]</a:t>
            </a:r>
          </a:p>
          <a:p>
            <a:pPr marL="457200" lvl="1" indent="0">
              <a:buNone/>
            </a:pPr>
            <a:r>
              <a:rPr lang="en-US" dirty="0">
                <a:sym typeface="Wingdings"/>
              </a:rPr>
              <a:t>	for j = 2 to n</a:t>
            </a:r>
          </a:p>
          <a:p>
            <a:pPr marL="914400" lvl="2" indent="0">
              <a:buNone/>
            </a:pPr>
            <a:r>
              <a:rPr lang="en-US" dirty="0">
                <a:sym typeface="Wingdings"/>
              </a:rPr>
              <a:t>      key = A[j]</a:t>
            </a:r>
          </a:p>
          <a:p>
            <a:pPr marL="1371600" lvl="3" indent="0">
              <a:buNone/>
            </a:pPr>
            <a:r>
              <a:rPr lang="en-US" dirty="0" err="1">
                <a:sym typeface="Wingdings"/>
              </a:rPr>
              <a:t>i</a:t>
            </a:r>
            <a:r>
              <a:rPr lang="en-US" dirty="0">
                <a:sym typeface="Wingdings"/>
              </a:rPr>
              <a:t> = j-1</a:t>
            </a:r>
          </a:p>
          <a:p>
            <a:pPr marL="1371600" lvl="3" indent="0">
              <a:buNone/>
            </a:pPr>
            <a:r>
              <a:rPr lang="en-US" dirty="0">
                <a:sym typeface="Wingdings"/>
              </a:rPr>
              <a:t>while </a:t>
            </a:r>
            <a:r>
              <a:rPr lang="en-US" dirty="0" err="1">
                <a:sym typeface="Wingdings"/>
              </a:rPr>
              <a:t>i</a:t>
            </a:r>
            <a:r>
              <a:rPr lang="en-US" dirty="0">
                <a:sym typeface="Wingdings"/>
              </a:rPr>
              <a:t> &gt; 0 and A[</a:t>
            </a:r>
            <a:r>
              <a:rPr lang="en-US" dirty="0" err="1">
                <a:sym typeface="Wingdings"/>
              </a:rPr>
              <a:t>i</a:t>
            </a:r>
            <a:r>
              <a:rPr lang="en-US" dirty="0">
                <a:sym typeface="Wingdings"/>
              </a:rPr>
              <a:t>] &gt; key</a:t>
            </a:r>
          </a:p>
          <a:p>
            <a:pPr marL="1371600" lvl="3" indent="0">
              <a:buNone/>
            </a:pPr>
            <a:r>
              <a:rPr lang="en-US" dirty="0">
                <a:sym typeface="Wingdings"/>
              </a:rPr>
              <a:t>	A[i+1] = A[</a:t>
            </a:r>
            <a:r>
              <a:rPr lang="en-US" dirty="0" err="1">
                <a:sym typeface="Wingdings"/>
              </a:rPr>
              <a:t>i</a:t>
            </a:r>
            <a:r>
              <a:rPr lang="en-US" dirty="0">
                <a:sym typeface="Wingdings"/>
              </a:rPr>
              <a:t>]</a:t>
            </a:r>
          </a:p>
          <a:p>
            <a:pPr marL="1371600" lvl="3" indent="0">
              <a:buNone/>
            </a:pPr>
            <a:r>
              <a:rPr lang="en-US" dirty="0">
                <a:sym typeface="Wingdings"/>
              </a:rPr>
              <a:t>	</a:t>
            </a:r>
            <a:r>
              <a:rPr lang="en-US" dirty="0" err="1">
                <a:sym typeface="Wingdings"/>
              </a:rPr>
              <a:t>i</a:t>
            </a:r>
            <a:r>
              <a:rPr lang="en-US" dirty="0">
                <a:sym typeface="Wingdings"/>
              </a:rPr>
              <a:t> = </a:t>
            </a:r>
            <a:r>
              <a:rPr lang="en-US" dirty="0" err="1">
                <a:sym typeface="Wingdings"/>
              </a:rPr>
              <a:t>i</a:t>
            </a:r>
            <a:r>
              <a:rPr lang="en-US" dirty="0">
                <a:sym typeface="Wingdings"/>
              </a:rPr>
              <a:t> -1</a:t>
            </a:r>
          </a:p>
          <a:p>
            <a:pPr marL="1371600" lvl="3" indent="0">
              <a:buNone/>
            </a:pPr>
            <a:r>
              <a:rPr lang="en-US" dirty="0">
                <a:sym typeface="Wingdings"/>
              </a:rPr>
              <a:t>A[i+1] = key</a:t>
            </a:r>
          </a:p>
          <a:p>
            <a:pPr lvl="3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066800" y="5284787"/>
            <a:ext cx="67056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066800" y="4915455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9140" y="4903787"/>
            <a:ext cx="23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74906" y="4903787"/>
            <a:ext cx="239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70740" y="4915455"/>
            <a:ext cx="30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0" y="5665787"/>
            <a:ext cx="50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894387"/>
            <a:ext cx="790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sorted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1066800" y="5818187"/>
            <a:ext cx="266700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2514600" y="5437187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2971800" y="5437187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3429000" y="5437187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810000" y="5284787"/>
            <a:ext cx="381000" cy="381000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>
          <a:xfrm>
            <a:off x="6553200" y="6324600"/>
            <a:ext cx="2133600" cy="457200"/>
          </a:xfrm>
        </p:spPr>
        <p:txBody>
          <a:bodyPr/>
          <a:lstStyle/>
          <a:p>
            <a:fld id="{02B868CC-9122-4483-912C-CFA4B98AF741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417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time of Insertion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running time depends on the input: an  already sorted sequence is easier to sort.</a:t>
            </a:r>
          </a:p>
          <a:p>
            <a:r>
              <a:rPr lang="en-US" dirty="0"/>
              <a:t>Parameterize the running time by the size of  the input, </a:t>
            </a:r>
          </a:p>
          <a:p>
            <a:pPr lvl="1"/>
            <a:r>
              <a:rPr lang="en-US" dirty="0"/>
              <a:t>short sequences are easier to sort than long ones.</a:t>
            </a:r>
          </a:p>
          <a:p>
            <a:r>
              <a:rPr lang="en-US" dirty="0"/>
              <a:t>Generally, we seek upper bounds on the running time, because everybody likes a  guarantee.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868CC-9122-4483-912C-CFA4B98AF74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932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Kinds of Analyses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Worst-case: (Usually) </a:t>
            </a:r>
          </a:p>
          <a:p>
            <a:pPr lvl="1"/>
            <a:r>
              <a:rPr lang="en-US" dirty="0"/>
              <a:t>T(n) = (maximum time of algorithm) on any input of size n.</a:t>
            </a:r>
          </a:p>
          <a:p>
            <a:r>
              <a:rPr lang="en-US" dirty="0"/>
              <a:t>Average-case (Sometimes): </a:t>
            </a:r>
          </a:p>
          <a:p>
            <a:pPr lvl="1"/>
            <a:r>
              <a:rPr lang="en-US" dirty="0"/>
              <a:t> T(n) = (expected time of algorithm) over all inputs of size n.</a:t>
            </a:r>
          </a:p>
          <a:p>
            <a:pPr lvl="1"/>
            <a:r>
              <a:rPr lang="en-US" dirty="0"/>
              <a:t>Need assumption of statistical distribution of inputs</a:t>
            </a:r>
          </a:p>
          <a:p>
            <a:r>
              <a:rPr lang="en-US" dirty="0"/>
              <a:t>Best-case: (bogus)</a:t>
            </a:r>
          </a:p>
          <a:p>
            <a:pPr lvl="1"/>
            <a:r>
              <a:rPr lang="en-US" dirty="0"/>
              <a:t>Cheat with a slow algorithm that works fast on some input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868CC-9122-4483-912C-CFA4B98AF74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900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Analysis of Insertion Sort</a:t>
            </a:r>
          </a:p>
        </p:txBody>
      </p:sp>
      <p:sp>
        <p:nvSpPr>
          <p:cNvPr id="1030" name="Rectangle 11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Time to compute the </a:t>
            </a:r>
            <a:r>
              <a:rPr lang="en-US" b="1" dirty="0"/>
              <a:t>running time</a:t>
            </a:r>
            <a:r>
              <a:rPr lang="en-US" dirty="0"/>
              <a:t> as a function of the </a:t>
            </a:r>
            <a:r>
              <a:rPr lang="en-US" b="1" dirty="0"/>
              <a:t>input size</a:t>
            </a:r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2B87E5B-EE03-476C-A935-44DE0582F333}" type="slidenum">
              <a:rPr lang="en-US"/>
              <a:pPr>
                <a:defRPr/>
              </a:pPr>
              <a:t>5</a:t>
            </a:fld>
            <a:endParaRPr lang="en-US"/>
          </a:p>
        </p:txBody>
      </p:sp>
      <p:sp>
        <p:nvSpPr>
          <p:cNvPr id="1032" name="Rectangle 3"/>
          <p:cNvSpPr>
            <a:spLocks noChangeArrowheads="1"/>
          </p:cNvSpPr>
          <p:nvPr/>
        </p:nvSpPr>
        <p:spPr bwMode="auto">
          <a:xfrm>
            <a:off x="914400" y="3048000"/>
            <a:ext cx="4191000" cy="28511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br>
              <a:rPr lang="en-US" sz="1800" b="1" dirty="0">
                <a:latin typeface="Courier New" pitchFamily="49" charset="0"/>
              </a:rPr>
            </a:br>
            <a:r>
              <a:rPr lang="en-US" sz="1800" b="1" dirty="0">
                <a:latin typeface="Courier New" pitchFamily="49" charset="0"/>
              </a:rPr>
              <a:t>1.f</a:t>
            </a:r>
            <a:r>
              <a:rPr lang="en-GB" sz="1800" b="1" dirty="0">
                <a:latin typeface="Courier New" pitchFamily="49" charset="0"/>
              </a:rPr>
              <a:t>or</a:t>
            </a:r>
            <a:r>
              <a:rPr lang="en-US" sz="1800" b="1" dirty="0">
                <a:latin typeface="Courier New" pitchFamily="49" charset="0"/>
              </a:rPr>
              <a:t> </a:t>
            </a:r>
            <a:r>
              <a:rPr lang="en-GB" sz="1800" dirty="0">
                <a:latin typeface="Courier New" pitchFamily="49" charset="0"/>
              </a:rPr>
              <a:t>j=2 </a:t>
            </a:r>
            <a:r>
              <a:rPr lang="en-GB" sz="1800" b="1" dirty="0">
                <a:latin typeface="Courier New" pitchFamily="49" charset="0"/>
              </a:rPr>
              <a:t>to </a:t>
            </a:r>
            <a:r>
              <a:rPr lang="en-GB" sz="1800" i="1" dirty="0" err="1">
                <a:latin typeface="Courier New" pitchFamily="49" charset="0"/>
              </a:rPr>
              <a:t>len</a:t>
            </a:r>
            <a:r>
              <a:rPr lang="en-US" sz="1800" i="1" dirty="0" err="1">
                <a:latin typeface="Courier New" pitchFamily="49" charset="0"/>
              </a:rPr>
              <a:t>gth</a:t>
            </a:r>
            <a:r>
              <a:rPr lang="en-GB" sz="1800" dirty="0">
                <a:latin typeface="Courier New" pitchFamily="49" charset="0"/>
              </a:rPr>
              <a:t>(A)</a:t>
            </a:r>
          </a:p>
          <a:p>
            <a:pPr eaLnBrk="0" hangingPunct="0"/>
            <a:r>
              <a:rPr lang="en-US" sz="1800" b="1" dirty="0">
                <a:latin typeface="Courier New" pitchFamily="49" charset="0"/>
              </a:rPr>
              <a:t>2.   </a:t>
            </a:r>
            <a:r>
              <a:rPr lang="en-GB" sz="1800" b="1" dirty="0">
                <a:latin typeface="Courier New" pitchFamily="49" charset="0"/>
              </a:rPr>
              <a:t>do</a:t>
            </a:r>
            <a:r>
              <a:rPr lang="en-US" sz="1800" b="1" dirty="0">
                <a:latin typeface="Courier New" pitchFamily="49" charset="0"/>
              </a:rPr>
              <a:t> </a:t>
            </a:r>
            <a:r>
              <a:rPr lang="en-GB" sz="1800" dirty="0">
                <a:latin typeface="Courier New" pitchFamily="49" charset="0"/>
              </a:rPr>
              <a:t>key=A[j]</a:t>
            </a:r>
          </a:p>
          <a:p>
            <a:pPr eaLnBrk="0" hangingPunct="0"/>
            <a:r>
              <a:rPr lang="en-GB" sz="1800" dirty="0">
                <a:latin typeface="Courier New" pitchFamily="49" charset="0"/>
              </a:rPr>
              <a:t>3.</a:t>
            </a:r>
            <a:r>
              <a:rPr lang="en-US" sz="1800" dirty="0">
                <a:latin typeface="Courier New" pitchFamily="49" charset="0"/>
              </a:rPr>
              <a:t>“</a:t>
            </a:r>
            <a:r>
              <a:rPr lang="en-US" sz="1800" dirty="0">
                <a:solidFill>
                  <a:srgbClr val="3333CC"/>
                </a:solidFill>
                <a:latin typeface="Courier New" pitchFamily="49" charset="0"/>
              </a:rPr>
              <a:t>insert </a:t>
            </a:r>
            <a:r>
              <a:rPr lang="en-GB" sz="1800" dirty="0">
                <a:solidFill>
                  <a:srgbClr val="3333CC"/>
                </a:solidFill>
                <a:latin typeface="Courier New" pitchFamily="49" charset="0"/>
              </a:rPr>
              <a:t>A[j]</a:t>
            </a:r>
            <a:r>
              <a:rPr lang="en-US" sz="1800" dirty="0">
                <a:solidFill>
                  <a:srgbClr val="3333CC"/>
                </a:solidFill>
                <a:latin typeface="Courier New" pitchFamily="49" charset="0"/>
              </a:rPr>
              <a:t> into the</a:t>
            </a:r>
            <a:br>
              <a:rPr lang="en-US" sz="1800" dirty="0">
                <a:solidFill>
                  <a:srgbClr val="3333CC"/>
                </a:solidFill>
                <a:latin typeface="Courier New" pitchFamily="49" charset="0"/>
              </a:rPr>
            </a:br>
            <a:r>
              <a:rPr lang="en-US" sz="1800" dirty="0">
                <a:solidFill>
                  <a:srgbClr val="3333CC"/>
                </a:solidFill>
                <a:latin typeface="Courier New" pitchFamily="49" charset="0"/>
              </a:rPr>
              <a:t>   sorted sequence </a:t>
            </a:r>
            <a:r>
              <a:rPr lang="en-GB" sz="1800" dirty="0">
                <a:solidFill>
                  <a:srgbClr val="3333CC"/>
                </a:solidFill>
                <a:latin typeface="Courier New" pitchFamily="49" charset="0"/>
              </a:rPr>
              <a:t>A[</a:t>
            </a:r>
            <a:r>
              <a:rPr lang="en-US" sz="1800" dirty="0">
                <a:solidFill>
                  <a:srgbClr val="3333CC"/>
                </a:solidFill>
                <a:latin typeface="Courier New" pitchFamily="49" charset="0"/>
              </a:rPr>
              <a:t>1..</a:t>
            </a:r>
            <a:r>
              <a:rPr lang="en-GB" sz="1800" dirty="0">
                <a:solidFill>
                  <a:srgbClr val="3333CC"/>
                </a:solidFill>
                <a:latin typeface="Courier New" pitchFamily="49" charset="0"/>
              </a:rPr>
              <a:t>j</a:t>
            </a:r>
            <a:r>
              <a:rPr lang="en-US" sz="1800" dirty="0">
                <a:solidFill>
                  <a:srgbClr val="3333CC"/>
                </a:solidFill>
                <a:latin typeface="Courier New" pitchFamily="49" charset="0"/>
              </a:rPr>
              <a:t>-1</a:t>
            </a:r>
            <a:r>
              <a:rPr lang="en-GB" sz="1800" dirty="0">
                <a:solidFill>
                  <a:srgbClr val="3333CC"/>
                </a:solidFill>
                <a:latin typeface="Courier New" pitchFamily="49" charset="0"/>
              </a:rPr>
              <a:t>]</a:t>
            </a:r>
            <a:r>
              <a:rPr lang="en-US" sz="1800" dirty="0">
                <a:solidFill>
                  <a:srgbClr val="3333CC"/>
                </a:solidFill>
                <a:latin typeface="Courier New" pitchFamily="49" charset="0"/>
              </a:rPr>
              <a:t>”</a:t>
            </a:r>
            <a:endParaRPr lang="en-GB" sz="1800" dirty="0">
              <a:solidFill>
                <a:srgbClr val="3333CC"/>
              </a:solidFill>
              <a:latin typeface="Courier New" pitchFamily="49" charset="0"/>
            </a:endParaRPr>
          </a:p>
          <a:p>
            <a:pPr eaLnBrk="0" hangingPunct="0"/>
            <a:r>
              <a:rPr lang="en-GB" sz="1800" dirty="0">
                <a:latin typeface="Courier New" pitchFamily="49" charset="0"/>
              </a:rPr>
              <a:t>4.     </a:t>
            </a:r>
            <a:r>
              <a:rPr lang="en-GB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=j-1</a:t>
            </a:r>
            <a:endParaRPr lang="en-GB" sz="1800" dirty="0">
              <a:latin typeface="Courier New" pitchFamily="49" charset="0"/>
            </a:endParaRPr>
          </a:p>
          <a:p>
            <a:pPr eaLnBrk="0" hangingPunct="0"/>
            <a:r>
              <a:rPr lang="en-GB" sz="1800" dirty="0">
                <a:latin typeface="Courier New" pitchFamily="49" charset="0"/>
              </a:rPr>
              <a:t>5.     </a:t>
            </a:r>
            <a:r>
              <a:rPr lang="en-GB" sz="1800" b="1" dirty="0">
                <a:latin typeface="Courier New" pitchFamily="49" charset="0"/>
              </a:rPr>
              <a:t>while </a:t>
            </a:r>
            <a:r>
              <a:rPr lang="en-GB" sz="1800" dirty="0" err="1">
                <a:latin typeface="Courier New" pitchFamily="49" charset="0"/>
              </a:rPr>
              <a:t>i</a:t>
            </a:r>
            <a:r>
              <a:rPr lang="en-GB" sz="1800" dirty="0">
                <a:latin typeface="Courier New" pitchFamily="49" charset="0"/>
              </a:rPr>
              <a:t>&gt;0 </a:t>
            </a:r>
            <a:r>
              <a:rPr lang="en-GB" sz="1800" b="1" dirty="0">
                <a:latin typeface="Courier New" pitchFamily="49" charset="0"/>
              </a:rPr>
              <a:t>and </a:t>
            </a:r>
            <a:r>
              <a:rPr lang="en-GB" sz="1800" dirty="0">
                <a:latin typeface="Courier New" pitchFamily="49" charset="0"/>
              </a:rPr>
              <a:t>A[</a:t>
            </a:r>
            <a:r>
              <a:rPr lang="en-GB" sz="1800" dirty="0" err="1">
                <a:latin typeface="Courier New" pitchFamily="49" charset="0"/>
              </a:rPr>
              <a:t>i</a:t>
            </a:r>
            <a:r>
              <a:rPr lang="en-GB" sz="1800" dirty="0">
                <a:latin typeface="Courier New" pitchFamily="49" charset="0"/>
              </a:rPr>
              <a:t>]&gt;key</a:t>
            </a:r>
          </a:p>
          <a:p>
            <a:pPr eaLnBrk="0" hangingPunct="0"/>
            <a:r>
              <a:rPr lang="en-GB" sz="1800" dirty="0">
                <a:latin typeface="Courier New" pitchFamily="49" charset="0"/>
              </a:rPr>
              <a:t>6.     </a:t>
            </a:r>
            <a:r>
              <a:rPr lang="en-US" sz="1800" dirty="0">
                <a:latin typeface="Courier New" pitchFamily="49" charset="0"/>
              </a:rPr>
              <a:t>   </a:t>
            </a:r>
            <a:r>
              <a:rPr lang="en-GB" sz="1800" b="1" dirty="0">
                <a:latin typeface="Courier New" pitchFamily="49" charset="0"/>
              </a:rPr>
              <a:t>do </a:t>
            </a:r>
            <a:r>
              <a:rPr lang="en-GB" sz="1800" dirty="0">
                <a:latin typeface="Courier New" pitchFamily="49" charset="0"/>
              </a:rPr>
              <a:t>A[i+1]=A[</a:t>
            </a:r>
            <a:r>
              <a:rPr lang="en-GB" sz="1800" dirty="0" err="1">
                <a:latin typeface="Courier New" pitchFamily="49" charset="0"/>
              </a:rPr>
              <a:t>i</a:t>
            </a:r>
            <a:r>
              <a:rPr lang="en-GB" sz="1800" dirty="0">
                <a:latin typeface="Courier New" pitchFamily="49" charset="0"/>
              </a:rPr>
              <a:t>]</a:t>
            </a:r>
          </a:p>
          <a:p>
            <a:pPr eaLnBrk="0" hangingPunct="0"/>
            <a:r>
              <a:rPr lang="en-GB" sz="1800" dirty="0">
                <a:latin typeface="Courier New" pitchFamily="49" charset="0"/>
              </a:rPr>
              <a:t>7.        </a:t>
            </a:r>
            <a:r>
              <a:rPr lang="en-US" sz="1800" dirty="0">
                <a:latin typeface="Courier New" pitchFamily="49" charset="0"/>
              </a:rPr>
              <a:t>   </a:t>
            </a:r>
            <a:r>
              <a:rPr lang="en-GB" sz="1800" dirty="0" err="1">
                <a:latin typeface="Courier New" pitchFamily="49" charset="0"/>
              </a:rPr>
              <a:t>i</a:t>
            </a:r>
            <a:r>
              <a:rPr lang="en-GB" sz="1800" dirty="0">
                <a:latin typeface="Courier New" pitchFamily="49" charset="0"/>
              </a:rPr>
              <a:t>--</a:t>
            </a:r>
          </a:p>
          <a:p>
            <a:pPr eaLnBrk="0" hangingPunct="0"/>
            <a:r>
              <a:rPr lang="en-GB" sz="1800" dirty="0">
                <a:latin typeface="Courier New" pitchFamily="49" charset="0"/>
              </a:rPr>
              <a:t>8.     A[i+1]=key</a:t>
            </a:r>
            <a:endParaRPr lang="en-GB" sz="2000" dirty="0">
              <a:latin typeface="Courier New" pitchFamily="49" charset="0"/>
            </a:endParaRPr>
          </a:p>
        </p:txBody>
      </p:sp>
      <p:sp>
        <p:nvSpPr>
          <p:cNvPr id="1033" name="Rectangle 4"/>
          <p:cNvSpPr>
            <a:spLocks noChangeArrowheads="1"/>
          </p:cNvSpPr>
          <p:nvPr/>
        </p:nvSpPr>
        <p:spPr bwMode="auto">
          <a:xfrm>
            <a:off x="5105400" y="3048000"/>
            <a:ext cx="1447800" cy="28511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/>
            <a:r>
              <a:rPr lang="en-US" sz="1800" b="1" dirty="0">
                <a:latin typeface="Courier New" pitchFamily="49" charset="0"/>
              </a:rPr>
              <a:t>cost</a:t>
            </a:r>
            <a:br>
              <a:rPr lang="en-US" sz="1800" b="1" dirty="0">
                <a:latin typeface="Courier New" pitchFamily="49" charset="0"/>
              </a:rPr>
            </a:br>
            <a:r>
              <a:rPr lang="en-US" sz="1800" dirty="0">
                <a:latin typeface="Courier New" pitchFamily="49" charset="0"/>
              </a:rPr>
              <a:t>c</a:t>
            </a:r>
            <a:r>
              <a:rPr lang="en-US" sz="1800" baseline="-25000" dirty="0">
                <a:latin typeface="Courier New" pitchFamily="49" charset="0"/>
              </a:rPr>
              <a:t>1</a:t>
            </a:r>
          </a:p>
          <a:p>
            <a:pPr algn="ctr" eaLnBrk="0" hangingPunct="0"/>
            <a:r>
              <a:rPr lang="en-US" sz="1800" dirty="0">
                <a:latin typeface="Courier New" pitchFamily="49" charset="0"/>
              </a:rPr>
              <a:t>c</a:t>
            </a:r>
            <a:r>
              <a:rPr lang="en-US" sz="1800" baseline="-25000" dirty="0">
                <a:latin typeface="Courier New" pitchFamily="49" charset="0"/>
              </a:rPr>
              <a:t>2</a:t>
            </a:r>
          </a:p>
          <a:p>
            <a:pPr algn="ctr" eaLnBrk="0" hangingPunct="0"/>
            <a:r>
              <a:rPr lang="en-US" sz="1800" dirty="0">
                <a:latin typeface="Courier New" pitchFamily="49" charset="0"/>
              </a:rPr>
              <a:t>0</a:t>
            </a:r>
            <a:endParaRPr lang="en-US" sz="1800" baseline="-25000" dirty="0">
              <a:latin typeface="Courier New" pitchFamily="49" charset="0"/>
            </a:endParaRPr>
          </a:p>
          <a:p>
            <a:pPr algn="ctr" eaLnBrk="0" hangingPunct="0"/>
            <a:r>
              <a:rPr lang="en-US" sz="1800" dirty="0">
                <a:latin typeface="Courier New" pitchFamily="49" charset="0"/>
              </a:rPr>
              <a:t> </a:t>
            </a:r>
            <a:endParaRPr lang="en-US" sz="1800" baseline="-25000" dirty="0">
              <a:latin typeface="Courier New" pitchFamily="49" charset="0"/>
            </a:endParaRPr>
          </a:p>
          <a:p>
            <a:pPr algn="ctr" eaLnBrk="0" hangingPunct="0"/>
            <a:r>
              <a:rPr lang="en-US" sz="1800" dirty="0">
                <a:latin typeface="Courier New" pitchFamily="49" charset="0"/>
              </a:rPr>
              <a:t>c</a:t>
            </a:r>
            <a:r>
              <a:rPr lang="en-US" baseline="-25000" dirty="0">
                <a:latin typeface="Courier New" pitchFamily="49" charset="0"/>
              </a:rPr>
              <a:t>4</a:t>
            </a:r>
            <a:endParaRPr lang="en-US" sz="1800" baseline="-25000" dirty="0">
              <a:latin typeface="Courier New" pitchFamily="49" charset="0"/>
            </a:endParaRPr>
          </a:p>
          <a:p>
            <a:pPr algn="ctr" eaLnBrk="0" hangingPunct="0"/>
            <a:r>
              <a:rPr lang="en-US" sz="1800" dirty="0">
                <a:latin typeface="Courier New" pitchFamily="49" charset="0"/>
              </a:rPr>
              <a:t>c</a:t>
            </a:r>
            <a:r>
              <a:rPr lang="en-US" baseline="-25000" dirty="0">
                <a:latin typeface="Courier New" pitchFamily="49" charset="0"/>
              </a:rPr>
              <a:t>5</a:t>
            </a:r>
            <a:endParaRPr lang="en-US" sz="1800" baseline="-25000" dirty="0">
              <a:latin typeface="Courier New" pitchFamily="49" charset="0"/>
            </a:endParaRPr>
          </a:p>
          <a:p>
            <a:pPr algn="ctr" eaLnBrk="0" hangingPunct="0"/>
            <a:r>
              <a:rPr lang="en-US" sz="1800" dirty="0">
                <a:latin typeface="Courier New" pitchFamily="49" charset="0"/>
              </a:rPr>
              <a:t>c</a:t>
            </a:r>
            <a:r>
              <a:rPr lang="en-US" baseline="-25000" dirty="0">
                <a:latin typeface="Courier New" pitchFamily="49" charset="0"/>
              </a:rPr>
              <a:t>6</a:t>
            </a:r>
            <a:endParaRPr lang="en-US" sz="1800" baseline="-25000" dirty="0">
              <a:latin typeface="Courier New" pitchFamily="49" charset="0"/>
            </a:endParaRPr>
          </a:p>
          <a:p>
            <a:pPr algn="ctr" eaLnBrk="0" hangingPunct="0"/>
            <a:r>
              <a:rPr lang="en-US" sz="1800" dirty="0">
                <a:latin typeface="Courier New" pitchFamily="49" charset="0"/>
              </a:rPr>
              <a:t>c</a:t>
            </a:r>
            <a:r>
              <a:rPr lang="en-US" baseline="-25000" dirty="0">
                <a:latin typeface="Courier New" pitchFamily="49" charset="0"/>
              </a:rPr>
              <a:t>7</a:t>
            </a:r>
            <a:endParaRPr lang="en-US" sz="1800" baseline="-25000" dirty="0">
              <a:latin typeface="Courier New" pitchFamily="49" charset="0"/>
            </a:endParaRPr>
          </a:p>
          <a:p>
            <a:pPr algn="ctr" eaLnBrk="0" hangingPunct="0"/>
            <a:r>
              <a:rPr lang="en-US" sz="1800" dirty="0">
                <a:latin typeface="Courier New" pitchFamily="49" charset="0"/>
              </a:rPr>
              <a:t>c</a:t>
            </a:r>
            <a:r>
              <a:rPr lang="en-US" baseline="-25000" dirty="0">
                <a:latin typeface="Courier New" pitchFamily="49" charset="0"/>
              </a:rPr>
              <a:t>8</a:t>
            </a:r>
            <a:endParaRPr lang="en-GB" sz="1800" b="1" dirty="0">
              <a:latin typeface="Courier New" pitchFamily="49" charset="0"/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6553200" y="3048000"/>
            <a:ext cx="1447800" cy="2851150"/>
            <a:chOff x="4128" y="1968"/>
            <a:chExt cx="912" cy="1796"/>
          </a:xfrm>
        </p:grpSpPr>
        <p:sp>
          <p:nvSpPr>
            <p:cNvPr id="1035" name="Rectangle 6"/>
            <p:cNvSpPr>
              <a:spLocks noChangeArrowheads="1"/>
            </p:cNvSpPr>
            <p:nvPr/>
          </p:nvSpPr>
          <p:spPr bwMode="auto">
            <a:xfrm>
              <a:off x="4128" y="1968"/>
              <a:ext cx="912" cy="179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1800" b="1" dirty="0">
                  <a:latin typeface="Courier New" pitchFamily="49" charset="0"/>
                </a:rPr>
                <a:t>times</a:t>
              </a:r>
              <a:br>
                <a:rPr lang="en-US" sz="1800" b="1" dirty="0">
                  <a:latin typeface="Courier New" pitchFamily="49" charset="0"/>
                </a:rPr>
              </a:br>
              <a:r>
                <a:rPr lang="en-US" sz="1800" dirty="0">
                  <a:latin typeface="Courier New" pitchFamily="49" charset="0"/>
                </a:rPr>
                <a:t>n</a:t>
              </a:r>
              <a:br>
                <a:rPr lang="en-US" sz="1800" dirty="0">
                  <a:latin typeface="Courier New" pitchFamily="49" charset="0"/>
                </a:rPr>
              </a:br>
              <a:r>
                <a:rPr lang="en-US" sz="1800" dirty="0">
                  <a:latin typeface="Courier New" pitchFamily="49" charset="0"/>
                </a:rPr>
                <a:t>n-1</a:t>
              </a:r>
              <a:br>
                <a:rPr lang="en-US" sz="1800" dirty="0">
                  <a:latin typeface="Courier New" pitchFamily="49" charset="0"/>
                </a:rPr>
              </a:br>
              <a:r>
                <a:rPr lang="en-US" sz="1800" dirty="0">
                  <a:latin typeface="Courier New" pitchFamily="49" charset="0"/>
                </a:rPr>
                <a:t>n-1</a:t>
              </a:r>
              <a:br>
                <a:rPr lang="en-US" sz="1800" dirty="0">
                  <a:latin typeface="Courier New" pitchFamily="49" charset="0"/>
                </a:rPr>
              </a:br>
              <a:br>
                <a:rPr lang="en-US" sz="1800" dirty="0">
                  <a:latin typeface="Courier New" pitchFamily="49" charset="0"/>
                </a:rPr>
              </a:br>
              <a:r>
                <a:rPr lang="en-US" sz="1800" dirty="0">
                  <a:latin typeface="Courier New" pitchFamily="49" charset="0"/>
                </a:rPr>
                <a:t>n-1</a:t>
              </a:r>
              <a:br>
                <a:rPr lang="en-US" sz="1800" dirty="0">
                  <a:latin typeface="Courier New" pitchFamily="49" charset="0"/>
                </a:rPr>
              </a:br>
              <a:br>
                <a:rPr lang="en-US" sz="1800" dirty="0">
                  <a:latin typeface="Courier New" pitchFamily="49" charset="0"/>
                </a:rPr>
              </a:br>
              <a:br>
                <a:rPr lang="en-US" sz="1800" dirty="0">
                  <a:latin typeface="Courier New" pitchFamily="49" charset="0"/>
                </a:rPr>
              </a:br>
              <a:br>
                <a:rPr lang="en-US" sz="1800" dirty="0">
                  <a:latin typeface="Courier New" pitchFamily="49" charset="0"/>
                </a:rPr>
              </a:br>
              <a:r>
                <a:rPr lang="en-US" sz="1800" dirty="0">
                  <a:latin typeface="Courier New" pitchFamily="49" charset="0"/>
                </a:rPr>
                <a:t>n-1</a:t>
              </a:r>
              <a:endParaRPr lang="en-GB" sz="1800" b="1" dirty="0">
                <a:latin typeface="Courier New" pitchFamily="49" charset="0"/>
              </a:endParaRPr>
            </a:p>
          </p:txBody>
        </p:sp>
        <p:grpSp>
          <p:nvGrpSpPr>
            <p:cNvPr id="3" name="Group 7"/>
            <p:cNvGrpSpPr>
              <a:grpSpLocks/>
            </p:cNvGrpSpPr>
            <p:nvPr/>
          </p:nvGrpSpPr>
          <p:grpSpPr bwMode="auto">
            <a:xfrm>
              <a:off x="4128" y="2928"/>
              <a:ext cx="760" cy="677"/>
              <a:chOff x="4128" y="2928"/>
              <a:chExt cx="760" cy="677"/>
            </a:xfrm>
          </p:grpSpPr>
          <p:graphicFrame>
            <p:nvGraphicFramePr>
              <p:cNvPr id="1026" name="Object 8"/>
              <p:cNvGraphicFramePr>
                <a:graphicFrameLocks noChangeAspect="1"/>
              </p:cNvGraphicFramePr>
              <p:nvPr/>
            </p:nvGraphicFramePr>
            <p:xfrm>
              <a:off x="4128" y="2928"/>
              <a:ext cx="480" cy="2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457200" imgH="279360" progId="">
                      <p:embed/>
                    </p:oleObj>
                  </mc:Choice>
                  <mc:Fallback>
                    <p:oleObj name="Equation" r:id="rId2" imgW="457200" imgH="279360" progId="">
                      <p:embed/>
                      <p:pic>
                        <p:nvPicPr>
                          <p:cNvPr id="0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28" y="2928"/>
                            <a:ext cx="480" cy="29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7" name="Object 9"/>
              <p:cNvGraphicFramePr>
                <a:graphicFrameLocks noChangeAspect="1"/>
              </p:cNvGraphicFramePr>
              <p:nvPr/>
            </p:nvGraphicFramePr>
            <p:xfrm>
              <a:off x="4128" y="3120"/>
              <a:ext cx="760" cy="2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723600" imgH="279360" progId="">
                      <p:embed/>
                    </p:oleObj>
                  </mc:Choice>
                  <mc:Fallback>
                    <p:oleObj name="Equation" r:id="rId4" imgW="723600" imgH="279360" progId="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28" y="3120"/>
                            <a:ext cx="760" cy="29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8" name="Object 10"/>
              <p:cNvGraphicFramePr>
                <a:graphicFrameLocks noChangeAspect="1"/>
              </p:cNvGraphicFramePr>
              <p:nvPr/>
            </p:nvGraphicFramePr>
            <p:xfrm>
              <a:off x="4128" y="3312"/>
              <a:ext cx="760" cy="2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723600" imgH="279360" progId="">
                      <p:embed/>
                    </p:oleObj>
                  </mc:Choice>
                  <mc:Fallback>
                    <p:oleObj name="Equation" r:id="rId4" imgW="723600" imgH="279360" progId="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28" y="3312"/>
                            <a:ext cx="760" cy="29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AutoShape 2"/>
          <p:cNvSpPr>
            <a:spLocks noGrp="1" noChangeArrowheads="1"/>
          </p:cNvSpPr>
          <p:nvPr>
            <p:ph type="title"/>
          </p:nvPr>
        </p:nvSpPr>
        <p:spPr>
          <a:xfrm>
            <a:off x="609600" y="342900"/>
            <a:ext cx="7924800" cy="9525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Insertion-Sort Running Time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1A1994-859C-481B-B2B7-74B5BE50EECE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34820" name="Text Box 3"/>
          <p:cNvSpPr txBox="1">
            <a:spLocks noChangeArrowheads="1"/>
          </p:cNvSpPr>
          <p:nvPr/>
        </p:nvSpPr>
        <p:spPr bwMode="auto">
          <a:xfrm>
            <a:off x="838200" y="2411413"/>
            <a:ext cx="7924800" cy="30223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US" sz="3200" dirty="0">
                <a:latin typeface="Times New Roman" pitchFamily="18" charset="0"/>
              </a:rPr>
              <a:t>T(n) = c</a:t>
            </a:r>
            <a:r>
              <a:rPr lang="en-US" sz="3200" baseline="-25000" dirty="0">
                <a:latin typeface="Times New Roman" pitchFamily="18" charset="0"/>
              </a:rPr>
              <a:t>1</a:t>
            </a:r>
            <a:r>
              <a:rPr lang="en-US" sz="3200" dirty="0">
                <a:latin typeface="Times New Roman" pitchFamily="18" charset="0"/>
              </a:rPr>
              <a:t>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(n) + </a:t>
            </a:r>
            <a:r>
              <a:rPr lang="en-US" sz="3200" dirty="0">
                <a:latin typeface="Times New Roman" pitchFamily="18" charset="0"/>
              </a:rPr>
              <a:t>c</a:t>
            </a:r>
            <a:r>
              <a:rPr lang="en-US" sz="3200" baseline="-25000" dirty="0">
                <a:latin typeface="Times New Roman" pitchFamily="18" charset="0"/>
              </a:rPr>
              <a:t>2</a:t>
            </a:r>
            <a:r>
              <a:rPr lang="en-US" sz="3200" dirty="0">
                <a:latin typeface="Times New Roman" pitchFamily="18" charset="0"/>
              </a:rPr>
              <a:t>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(n-1) + </a:t>
            </a:r>
            <a:r>
              <a:rPr lang="en-US" sz="3200" dirty="0">
                <a:solidFill>
                  <a:srgbClr val="3333FF"/>
                </a:solidFill>
                <a:latin typeface="Times New Roman" pitchFamily="18" charset="0"/>
              </a:rPr>
              <a:t>c</a:t>
            </a:r>
            <a:r>
              <a:rPr lang="en-US" sz="3200" baseline="-25000" dirty="0">
                <a:solidFill>
                  <a:srgbClr val="3333FF"/>
                </a:solidFill>
                <a:latin typeface="Times New Roman" pitchFamily="18" charset="0"/>
              </a:rPr>
              <a:t>3</a:t>
            </a:r>
            <a:r>
              <a:rPr lang="en-US" sz="3200" dirty="0">
                <a:latin typeface="Times New Roman" pitchFamily="18" charset="0"/>
              </a:rPr>
              <a:t>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(n-1) + </a:t>
            </a:r>
          </a:p>
          <a:p>
            <a:pPr>
              <a:spcBef>
                <a:spcPct val="20000"/>
              </a:spcBef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3200" dirty="0">
                <a:latin typeface="Times New Roman" pitchFamily="18" charset="0"/>
              </a:rPr>
              <a:t>c</a:t>
            </a:r>
            <a:r>
              <a:rPr lang="en-US" sz="3200" baseline="-25000" dirty="0">
                <a:latin typeface="Times New Roman" pitchFamily="18" charset="0"/>
              </a:rPr>
              <a:t>4</a:t>
            </a:r>
            <a:r>
              <a:rPr lang="en-US" sz="3200" dirty="0">
                <a:latin typeface="Times New Roman" pitchFamily="18" charset="0"/>
              </a:rPr>
              <a:t>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(n-1) + c</a:t>
            </a:r>
            <a:r>
              <a:rPr lang="en-US" sz="3200" baseline="-25000" dirty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sz="3200" dirty="0">
                <a:latin typeface="Times New Roman" pitchFamily="18" charset="0"/>
              </a:rPr>
              <a:t>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(</a:t>
            </a:r>
            <a:r>
              <a:rPr lang="en-US" sz="3200" dirty="0">
                <a:latin typeface="Times New Roman" pitchFamily="18" charset="0"/>
                <a:sym typeface="Symbol" pitchFamily="18" charset="2"/>
              </a:rPr>
              <a:t></a:t>
            </a:r>
            <a:r>
              <a:rPr lang="en-US" sz="3200" baseline="-25000" dirty="0">
                <a:latin typeface="Times New Roman" pitchFamily="18" charset="0"/>
                <a:sym typeface="Symbol" pitchFamily="18" charset="2"/>
              </a:rPr>
              <a:t>j=2,n</a:t>
            </a:r>
            <a:r>
              <a:rPr lang="en-US" sz="3200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3200" dirty="0" err="1">
                <a:latin typeface="Times New Roman" pitchFamily="18" charset="0"/>
                <a:sym typeface="Symbol" pitchFamily="18" charset="2"/>
              </a:rPr>
              <a:t>t</a:t>
            </a:r>
            <a:r>
              <a:rPr lang="en-US" sz="3200" baseline="-25000" dirty="0" err="1">
                <a:latin typeface="Times New Roman" pitchFamily="18" charset="0"/>
                <a:sym typeface="Symbol" pitchFamily="18" charset="2"/>
              </a:rPr>
              <a:t>j</a:t>
            </a:r>
            <a:r>
              <a:rPr lang="en-US" sz="3200" dirty="0">
                <a:latin typeface="Times New Roman" pitchFamily="18" charset="0"/>
              </a:rPr>
              <a:t>) + </a:t>
            </a:r>
          </a:p>
          <a:p>
            <a:pPr>
              <a:spcBef>
                <a:spcPct val="20000"/>
              </a:spcBef>
            </a:pPr>
            <a:r>
              <a:rPr lang="en-US" sz="3200" dirty="0">
                <a:latin typeface="Times New Roman" pitchFamily="18" charset="0"/>
              </a:rPr>
              <a:t>           c</a:t>
            </a:r>
            <a:r>
              <a:rPr lang="en-US" sz="3200" baseline="-25000" dirty="0">
                <a:latin typeface="Times New Roman" pitchFamily="18" charset="0"/>
              </a:rPr>
              <a:t>6</a:t>
            </a:r>
            <a:r>
              <a:rPr lang="en-US" sz="3200" dirty="0">
                <a:latin typeface="Times New Roman" pitchFamily="18" charset="0"/>
              </a:rPr>
              <a:t>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( </a:t>
            </a:r>
            <a:r>
              <a:rPr lang="en-US" sz="3200" dirty="0">
                <a:latin typeface="Times New Roman" pitchFamily="18" charset="0"/>
                <a:sym typeface="Symbol" pitchFamily="18" charset="2"/>
              </a:rPr>
              <a:t></a:t>
            </a:r>
            <a:r>
              <a:rPr lang="en-US" sz="3200" baseline="-25000" dirty="0">
                <a:latin typeface="Times New Roman" pitchFamily="18" charset="0"/>
                <a:sym typeface="Symbol" pitchFamily="18" charset="2"/>
              </a:rPr>
              <a:t>j=2,n</a:t>
            </a:r>
            <a:r>
              <a:rPr lang="en-US" sz="3200" dirty="0">
                <a:latin typeface="Times New Roman" pitchFamily="18" charset="0"/>
                <a:sym typeface="Symbol" pitchFamily="18" charset="2"/>
              </a:rPr>
              <a:t> (</a:t>
            </a:r>
            <a:r>
              <a:rPr lang="en-US" sz="3200" dirty="0" err="1">
                <a:latin typeface="Times New Roman" pitchFamily="18" charset="0"/>
                <a:sym typeface="Symbol" pitchFamily="18" charset="2"/>
              </a:rPr>
              <a:t>t</a:t>
            </a:r>
            <a:r>
              <a:rPr lang="en-US" sz="3200" baseline="-25000" dirty="0" err="1">
                <a:latin typeface="Times New Roman" pitchFamily="18" charset="0"/>
                <a:sym typeface="Symbol" pitchFamily="18" charset="2"/>
              </a:rPr>
              <a:t>j</a:t>
            </a:r>
            <a:r>
              <a:rPr lang="en-US" sz="3200" baseline="-25000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3200" dirty="0">
                <a:latin typeface="Times New Roman" pitchFamily="18" charset="0"/>
              </a:rPr>
              <a:t>-1) ) + c</a:t>
            </a:r>
            <a:r>
              <a:rPr lang="en-US" sz="3200" baseline="-25000" dirty="0">
                <a:latin typeface="Times New Roman" pitchFamily="18" charset="0"/>
              </a:rPr>
              <a:t>7</a:t>
            </a:r>
            <a:r>
              <a:rPr lang="en-US" sz="3200" dirty="0">
                <a:latin typeface="Times New Roman" pitchFamily="18" charset="0"/>
              </a:rPr>
              <a:t>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( </a:t>
            </a:r>
            <a:r>
              <a:rPr lang="en-US" sz="3200" dirty="0">
                <a:latin typeface="Times New Roman" pitchFamily="18" charset="0"/>
                <a:sym typeface="Symbol" pitchFamily="18" charset="2"/>
              </a:rPr>
              <a:t></a:t>
            </a:r>
            <a:r>
              <a:rPr lang="en-US" sz="3200" baseline="-25000" dirty="0">
                <a:latin typeface="Times New Roman" pitchFamily="18" charset="0"/>
                <a:sym typeface="Symbol" pitchFamily="18" charset="2"/>
              </a:rPr>
              <a:t>j=2,n</a:t>
            </a:r>
            <a:r>
              <a:rPr lang="en-US" sz="3200" dirty="0">
                <a:latin typeface="Times New Roman" pitchFamily="18" charset="0"/>
                <a:sym typeface="Symbol" pitchFamily="18" charset="2"/>
              </a:rPr>
              <a:t> (</a:t>
            </a:r>
            <a:r>
              <a:rPr lang="en-US" sz="3200" dirty="0" err="1">
                <a:latin typeface="Times New Roman" pitchFamily="18" charset="0"/>
                <a:sym typeface="Symbol" pitchFamily="18" charset="2"/>
              </a:rPr>
              <a:t>t</a:t>
            </a:r>
            <a:r>
              <a:rPr lang="en-US" sz="3200" baseline="-25000" dirty="0" err="1">
                <a:latin typeface="Times New Roman" pitchFamily="18" charset="0"/>
                <a:sym typeface="Symbol" pitchFamily="18" charset="2"/>
              </a:rPr>
              <a:t>j</a:t>
            </a:r>
            <a:r>
              <a:rPr lang="en-US" sz="3200" baseline="-25000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3200" dirty="0">
                <a:latin typeface="Times New Roman" pitchFamily="18" charset="0"/>
              </a:rPr>
              <a:t>-1) )</a:t>
            </a:r>
          </a:p>
          <a:p>
            <a:pPr>
              <a:spcBef>
                <a:spcPct val="20000"/>
              </a:spcBef>
            </a:pPr>
            <a:r>
              <a:rPr lang="en-US" sz="3200" dirty="0">
                <a:latin typeface="Times New Roman" pitchFamily="18" charset="0"/>
              </a:rPr>
              <a:t>	 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3200" dirty="0">
                <a:latin typeface="Times New Roman" pitchFamily="18" charset="0"/>
              </a:rPr>
              <a:t>c</a:t>
            </a:r>
            <a:r>
              <a:rPr lang="en-US" sz="3200" baseline="-25000" dirty="0">
                <a:latin typeface="Times New Roman" pitchFamily="18" charset="0"/>
              </a:rPr>
              <a:t>8</a:t>
            </a:r>
            <a:r>
              <a:rPr lang="en-US" sz="3200" dirty="0">
                <a:latin typeface="Times New Roman" pitchFamily="18" charset="0"/>
              </a:rPr>
              <a:t>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(n-1) </a:t>
            </a:r>
          </a:p>
          <a:p>
            <a:pPr algn="ctr">
              <a:spcBef>
                <a:spcPct val="20000"/>
              </a:spcBef>
            </a:pPr>
            <a:endParaRPr lang="en-US" i="1" dirty="0">
              <a:solidFill>
                <a:srgbClr val="3333FF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spcBef>
                <a:spcPct val="20000"/>
              </a:spcBef>
            </a:pPr>
            <a:r>
              <a:rPr lang="en-US" i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i="1" baseline="-250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i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 = 0, of course, since it’s the comment</a:t>
            </a:r>
            <a:endParaRPr lang="en-US" sz="1800" i="1" dirty="0">
              <a:solidFill>
                <a:srgbClr val="3333FF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Best/Worst/Average Case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b="1" dirty="0"/>
              <a:t>Best case</a:t>
            </a:r>
            <a:r>
              <a:rPr lang="en-US" sz="2800" dirty="0"/>
              <a:t>: elements already sorted, </a:t>
            </a:r>
            <a:r>
              <a:rPr lang="en-US" sz="2800" i="1" dirty="0" err="1"/>
              <a:t>t</a:t>
            </a:r>
            <a:r>
              <a:rPr lang="en-US" sz="2800" i="1" baseline="-25000" dirty="0" err="1"/>
              <a:t>j</a:t>
            </a:r>
            <a:r>
              <a:rPr lang="en-US" sz="2800" i="1" dirty="0"/>
              <a:t>=1, </a:t>
            </a:r>
            <a:r>
              <a:rPr lang="en-US" sz="2800" dirty="0"/>
              <a:t>running time = </a:t>
            </a:r>
            <a:r>
              <a:rPr lang="en-US" sz="2800" i="1" dirty="0"/>
              <a:t>f(n), </a:t>
            </a:r>
            <a:r>
              <a:rPr lang="en-US" sz="2800" dirty="0"/>
              <a:t>i.e., </a:t>
            </a:r>
            <a:r>
              <a:rPr lang="en-US" sz="2800" i="1" dirty="0"/>
              <a:t>linear</a:t>
            </a:r>
            <a:r>
              <a:rPr lang="en-US" sz="2800" dirty="0"/>
              <a:t> time. </a:t>
            </a:r>
          </a:p>
          <a:p>
            <a:pPr eaLnBrk="1" hangingPunct="1">
              <a:lnSpc>
                <a:spcPct val="90000"/>
              </a:lnSpc>
            </a:pPr>
            <a:endParaRPr lang="en-US" sz="2800" i="1" dirty="0"/>
          </a:p>
          <a:p>
            <a:pPr eaLnBrk="1" hangingPunct="1">
              <a:lnSpc>
                <a:spcPct val="90000"/>
              </a:lnSpc>
            </a:pPr>
            <a:r>
              <a:rPr lang="en-US" sz="2800" b="1" dirty="0"/>
              <a:t>Worst case</a:t>
            </a:r>
            <a:r>
              <a:rPr lang="en-US" sz="2800" dirty="0"/>
              <a:t>: elements are sorted in inverse order, </a:t>
            </a:r>
            <a:r>
              <a:rPr lang="en-US" sz="2800" i="1" dirty="0" err="1"/>
              <a:t>t</a:t>
            </a:r>
            <a:r>
              <a:rPr lang="en-US" sz="2800" i="1" baseline="-25000" dirty="0" err="1"/>
              <a:t>j</a:t>
            </a:r>
            <a:r>
              <a:rPr lang="en-US" sz="2800" i="1" dirty="0"/>
              <a:t>=j</a:t>
            </a:r>
            <a:r>
              <a:rPr lang="en-US" sz="2800" dirty="0"/>
              <a:t>, running time = </a:t>
            </a:r>
            <a:r>
              <a:rPr lang="en-US" sz="2800" i="1" dirty="0"/>
              <a:t>f(n</a:t>
            </a:r>
            <a:r>
              <a:rPr lang="en-US" sz="2800" i="1" baseline="30000" dirty="0"/>
              <a:t>2</a:t>
            </a:r>
            <a:r>
              <a:rPr lang="en-US" sz="2800" i="1" dirty="0"/>
              <a:t>), </a:t>
            </a:r>
            <a:r>
              <a:rPr lang="en-US" sz="2800" dirty="0"/>
              <a:t>i.e.,</a:t>
            </a:r>
            <a:r>
              <a:rPr lang="en-US" sz="2800" i="1" dirty="0"/>
              <a:t> quadratic</a:t>
            </a:r>
            <a:r>
              <a:rPr lang="en-US" sz="2800" dirty="0"/>
              <a:t> time</a:t>
            </a:r>
          </a:p>
          <a:p>
            <a:pPr eaLnBrk="1" hangingPunct="1">
              <a:lnSpc>
                <a:spcPct val="90000"/>
              </a:lnSpc>
            </a:pPr>
            <a:endParaRPr lang="en-US" sz="2800" dirty="0"/>
          </a:p>
          <a:p>
            <a:pPr eaLnBrk="1" hangingPunct="1">
              <a:lnSpc>
                <a:spcPct val="90000"/>
              </a:lnSpc>
            </a:pPr>
            <a:r>
              <a:rPr lang="en-US" sz="2800" b="1" dirty="0"/>
              <a:t>Average case</a:t>
            </a:r>
            <a:r>
              <a:rPr lang="en-US" sz="2800" dirty="0"/>
              <a:t>: </a:t>
            </a:r>
            <a:r>
              <a:rPr lang="en-US" sz="2800" i="1" dirty="0" err="1"/>
              <a:t>t</a:t>
            </a:r>
            <a:r>
              <a:rPr lang="en-US" sz="2800" i="1" baseline="-25000" dirty="0" err="1"/>
              <a:t>j</a:t>
            </a:r>
            <a:r>
              <a:rPr lang="en-US" sz="2800" i="1" dirty="0"/>
              <a:t>=j/2, </a:t>
            </a:r>
            <a:r>
              <a:rPr lang="en-US" sz="2800" dirty="0"/>
              <a:t>running time = </a:t>
            </a:r>
            <a:r>
              <a:rPr lang="en-US" sz="2800" i="1" dirty="0"/>
              <a:t>f(n</a:t>
            </a:r>
            <a:r>
              <a:rPr lang="en-US" sz="2800" i="1" baseline="30000" dirty="0"/>
              <a:t>2</a:t>
            </a:r>
            <a:r>
              <a:rPr lang="en-US" sz="2800" i="1" dirty="0"/>
              <a:t>), </a:t>
            </a:r>
            <a:r>
              <a:rPr lang="en-US" sz="2800" dirty="0"/>
              <a:t>i.e.,</a:t>
            </a:r>
            <a:r>
              <a:rPr lang="en-US" sz="2800" i="1" dirty="0"/>
              <a:t> quadratic</a:t>
            </a:r>
            <a:r>
              <a:rPr lang="en-US" sz="2800" dirty="0"/>
              <a:t> time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747D17-3D63-43F9-9E37-45A6CC2736FE}" type="slidenum">
              <a:rPr lang="en-US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Best Case Result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752600"/>
            <a:ext cx="8077200" cy="35814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 dirty="0"/>
              <a:t>Occurs when array is already sorted.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 dirty="0"/>
              <a:t>For each j = 2, 3,…..n we find that A[</a:t>
            </a:r>
            <a:r>
              <a:rPr lang="en-US" sz="2800" dirty="0" err="1"/>
              <a:t>i</a:t>
            </a:r>
            <a:r>
              <a:rPr lang="en-US" sz="2800" dirty="0"/>
              <a:t>]&lt;=key in line 5 when </a:t>
            </a:r>
            <a:r>
              <a:rPr lang="en-US" sz="2800" dirty="0" err="1"/>
              <a:t>i</a:t>
            </a:r>
            <a:r>
              <a:rPr lang="en-US" sz="2800" dirty="0"/>
              <a:t> has its initial value of j-1.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800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 dirty="0"/>
              <a:t>T(n) = c</a:t>
            </a:r>
            <a:r>
              <a:rPr lang="en-US" sz="2800" baseline="-25000" dirty="0"/>
              <a:t>1</a:t>
            </a:r>
            <a:r>
              <a:rPr lang="en-US" sz="2800" dirty="0"/>
              <a:t> </a:t>
            </a:r>
            <a:r>
              <a:rPr lang="en-US" sz="2800" dirty="0">
                <a:cs typeface="Times New Roman" pitchFamily="18" charset="0"/>
              </a:rPr>
              <a:t>• n + (</a:t>
            </a:r>
            <a:r>
              <a:rPr lang="en-US" sz="2800" dirty="0"/>
              <a:t>c</a:t>
            </a:r>
            <a:r>
              <a:rPr lang="en-US" sz="2800" baseline="-25000" dirty="0"/>
              <a:t>2</a:t>
            </a:r>
            <a:r>
              <a:rPr lang="en-US" sz="2800" dirty="0"/>
              <a:t> + c</a:t>
            </a:r>
            <a:r>
              <a:rPr lang="en-US" sz="2800" baseline="-25000" dirty="0"/>
              <a:t>4</a:t>
            </a:r>
            <a:r>
              <a:rPr lang="en-US" sz="2800" dirty="0"/>
              <a:t>) </a:t>
            </a:r>
            <a:r>
              <a:rPr lang="en-US" sz="2800" dirty="0">
                <a:cs typeface="Times New Roman" pitchFamily="18" charset="0"/>
              </a:rPr>
              <a:t>• (n-1) + c</a:t>
            </a:r>
            <a:r>
              <a:rPr lang="en-US" sz="2800" baseline="-25000" dirty="0">
                <a:cs typeface="Times New Roman" pitchFamily="18" charset="0"/>
              </a:rPr>
              <a:t>5</a:t>
            </a:r>
            <a:r>
              <a:rPr lang="en-US" sz="2800" dirty="0"/>
              <a:t> </a:t>
            </a:r>
            <a:r>
              <a:rPr lang="en-US" sz="2800" dirty="0">
                <a:cs typeface="Times New Roman" pitchFamily="18" charset="0"/>
              </a:rPr>
              <a:t>• (</a:t>
            </a:r>
            <a:r>
              <a:rPr lang="en-US" sz="2800" dirty="0">
                <a:sym typeface="Symbol" pitchFamily="18" charset="2"/>
              </a:rPr>
              <a:t>n-1</a:t>
            </a:r>
            <a:r>
              <a:rPr lang="en-US" sz="2800" dirty="0"/>
              <a:t>)</a:t>
            </a:r>
            <a:r>
              <a:rPr lang="en-US" sz="2800" dirty="0">
                <a:cs typeface="Times New Roman" pitchFamily="18" charset="0"/>
              </a:rPr>
              <a:t>+ </a:t>
            </a:r>
            <a:r>
              <a:rPr lang="en-US" sz="2800" dirty="0"/>
              <a:t>c</a:t>
            </a:r>
            <a:r>
              <a:rPr lang="en-US" sz="2800" baseline="-25000" dirty="0"/>
              <a:t>8</a:t>
            </a:r>
            <a:r>
              <a:rPr lang="en-US" sz="2800" dirty="0"/>
              <a:t> </a:t>
            </a:r>
            <a:r>
              <a:rPr lang="en-US" sz="2800" dirty="0">
                <a:cs typeface="Times New Roman" pitchFamily="18" charset="0"/>
              </a:rPr>
              <a:t>• (n-1)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 dirty="0">
                <a:cs typeface="Times New Roman" pitchFamily="18" charset="0"/>
              </a:rPr>
              <a:t>	= n • ( c</a:t>
            </a:r>
            <a:r>
              <a:rPr lang="en-US" sz="2800" baseline="-25000" dirty="0">
                <a:cs typeface="Times New Roman" pitchFamily="18" charset="0"/>
              </a:rPr>
              <a:t>1</a:t>
            </a:r>
            <a:r>
              <a:rPr lang="en-US" sz="2800" dirty="0">
                <a:cs typeface="Times New Roman" pitchFamily="18" charset="0"/>
              </a:rPr>
              <a:t> + c</a:t>
            </a:r>
            <a:r>
              <a:rPr lang="en-US" sz="2800" baseline="-25000" dirty="0">
                <a:cs typeface="Times New Roman" pitchFamily="18" charset="0"/>
              </a:rPr>
              <a:t>2</a:t>
            </a:r>
            <a:r>
              <a:rPr lang="en-US" sz="2800" dirty="0">
                <a:cs typeface="Times New Roman" pitchFamily="18" charset="0"/>
              </a:rPr>
              <a:t> + c</a:t>
            </a:r>
            <a:r>
              <a:rPr lang="en-US" sz="2800" baseline="-25000" dirty="0">
                <a:cs typeface="Times New Roman" pitchFamily="18" charset="0"/>
              </a:rPr>
              <a:t>4</a:t>
            </a:r>
            <a:r>
              <a:rPr lang="en-US" sz="2800" dirty="0">
                <a:cs typeface="Times New Roman" pitchFamily="18" charset="0"/>
              </a:rPr>
              <a:t> + c</a:t>
            </a:r>
            <a:r>
              <a:rPr lang="en-US" sz="2800" baseline="-25000" dirty="0">
                <a:cs typeface="Times New Roman" pitchFamily="18" charset="0"/>
              </a:rPr>
              <a:t>5</a:t>
            </a:r>
            <a:r>
              <a:rPr lang="en-US" sz="2800" dirty="0">
                <a:cs typeface="Times New Roman" pitchFamily="18" charset="0"/>
              </a:rPr>
              <a:t> + c</a:t>
            </a:r>
            <a:r>
              <a:rPr lang="en-US" sz="2800" baseline="-25000" dirty="0">
                <a:cs typeface="Times New Roman" pitchFamily="18" charset="0"/>
              </a:rPr>
              <a:t>8 </a:t>
            </a:r>
            <a:r>
              <a:rPr lang="en-US" sz="2800" dirty="0">
                <a:cs typeface="Times New Roman" pitchFamily="18" charset="0"/>
              </a:rPr>
              <a:t>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 dirty="0">
                <a:cs typeface="Times New Roman" pitchFamily="18" charset="0"/>
              </a:rPr>
              <a:t>	   + ( -c</a:t>
            </a:r>
            <a:r>
              <a:rPr lang="en-US" sz="2800" baseline="-25000" dirty="0">
                <a:cs typeface="Times New Roman" pitchFamily="18" charset="0"/>
              </a:rPr>
              <a:t>2</a:t>
            </a:r>
            <a:r>
              <a:rPr lang="en-US" sz="2800" dirty="0">
                <a:cs typeface="Times New Roman" pitchFamily="18" charset="0"/>
              </a:rPr>
              <a:t> – c</a:t>
            </a:r>
            <a:r>
              <a:rPr lang="en-US" sz="2800" baseline="-25000" dirty="0">
                <a:cs typeface="Times New Roman" pitchFamily="18" charset="0"/>
              </a:rPr>
              <a:t>4</a:t>
            </a:r>
            <a:r>
              <a:rPr lang="en-US" sz="2800" dirty="0">
                <a:cs typeface="Times New Roman" pitchFamily="18" charset="0"/>
              </a:rPr>
              <a:t>  - c</a:t>
            </a:r>
            <a:r>
              <a:rPr lang="en-US" sz="2800" baseline="-25000" dirty="0">
                <a:cs typeface="Times New Roman" pitchFamily="18" charset="0"/>
              </a:rPr>
              <a:t>5</a:t>
            </a:r>
            <a:r>
              <a:rPr lang="en-US" sz="2800" dirty="0">
                <a:cs typeface="Times New Roman" pitchFamily="18" charset="0"/>
              </a:rPr>
              <a:t> – c</a:t>
            </a:r>
            <a:r>
              <a:rPr lang="en-US" sz="2800" baseline="-25000" dirty="0">
                <a:cs typeface="Times New Roman" pitchFamily="18" charset="0"/>
              </a:rPr>
              <a:t>8 </a:t>
            </a:r>
            <a:r>
              <a:rPr lang="en-US" sz="2800" dirty="0">
                <a:cs typeface="Times New Roman" pitchFamily="18" charset="0"/>
              </a:rPr>
              <a:t>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 dirty="0">
                <a:cs typeface="Times New Roman" pitchFamily="18" charset="0"/>
              </a:rPr>
              <a:t>	= c</a:t>
            </a:r>
            <a:r>
              <a:rPr lang="en-US" sz="2800" baseline="-25000" dirty="0">
                <a:cs typeface="Times New Roman" pitchFamily="18" charset="0"/>
              </a:rPr>
              <a:t>9</a:t>
            </a:r>
            <a:r>
              <a:rPr lang="en-US" sz="2800" dirty="0">
                <a:cs typeface="Times New Roman" pitchFamily="18" charset="0"/>
              </a:rPr>
              <a:t>n + c</a:t>
            </a:r>
            <a:r>
              <a:rPr lang="en-US" sz="2800" baseline="-25000" dirty="0">
                <a:cs typeface="Times New Roman" pitchFamily="18" charset="0"/>
              </a:rPr>
              <a:t>10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 dirty="0">
                <a:cs typeface="Times New Roman" pitchFamily="18" charset="0"/>
              </a:rPr>
              <a:t>	= </a:t>
            </a:r>
            <a:r>
              <a:rPr lang="en-US" sz="2800" dirty="0">
                <a:cs typeface="Times New Roman" pitchFamily="18" charset="0"/>
                <a:sym typeface="Symbol" pitchFamily="18" charset="2"/>
              </a:rPr>
              <a:t>f</a:t>
            </a:r>
            <a:r>
              <a:rPr lang="en-US" sz="2800" baseline="-25000" dirty="0">
                <a:cs typeface="Times New Roman" pitchFamily="18" charset="0"/>
                <a:sym typeface="Symbol" pitchFamily="18" charset="2"/>
              </a:rPr>
              <a:t>1</a:t>
            </a:r>
            <a:r>
              <a:rPr lang="en-US" sz="2800" dirty="0">
                <a:cs typeface="Times New Roman" pitchFamily="18" charset="0"/>
                <a:sym typeface="Symbol" pitchFamily="18" charset="2"/>
              </a:rPr>
              <a:t>(n</a:t>
            </a:r>
            <a:r>
              <a:rPr lang="en-US" sz="2800" baseline="30000" dirty="0">
                <a:cs typeface="Times New Roman" pitchFamily="18" charset="0"/>
                <a:sym typeface="Symbol" pitchFamily="18" charset="2"/>
              </a:rPr>
              <a:t>1</a:t>
            </a:r>
            <a:r>
              <a:rPr lang="en-US" sz="2800" dirty="0">
                <a:cs typeface="Times New Roman" pitchFamily="18" charset="0"/>
                <a:sym typeface="Symbol" pitchFamily="18" charset="2"/>
              </a:rPr>
              <a:t>) + f</a:t>
            </a:r>
            <a:r>
              <a:rPr lang="en-US" sz="2800" baseline="-25000" dirty="0">
                <a:cs typeface="Times New Roman" pitchFamily="18" charset="0"/>
                <a:sym typeface="Symbol" pitchFamily="18" charset="2"/>
              </a:rPr>
              <a:t>2</a:t>
            </a:r>
            <a:r>
              <a:rPr lang="en-US" sz="2800" dirty="0">
                <a:cs typeface="Times New Roman" pitchFamily="18" charset="0"/>
                <a:sym typeface="Symbol" pitchFamily="18" charset="2"/>
              </a:rPr>
              <a:t>(n</a:t>
            </a:r>
            <a:r>
              <a:rPr lang="en-US" sz="2800" baseline="30000" dirty="0">
                <a:cs typeface="Times New Roman" pitchFamily="18" charset="0"/>
                <a:sym typeface="Symbol" pitchFamily="18" charset="2"/>
              </a:rPr>
              <a:t>0</a:t>
            </a:r>
            <a:r>
              <a:rPr lang="en-US" sz="2800" dirty="0">
                <a:cs typeface="Times New Roman" pitchFamily="18" charset="0"/>
                <a:sym typeface="Symbol" pitchFamily="18" charset="2"/>
              </a:rPr>
              <a:t>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387375-CFE3-47F1-A421-EC06C4952492}" type="slidenum">
              <a:rPr lang="en-US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AutoShape 2"/>
          <p:cNvSpPr>
            <a:spLocks noGrp="1" noChangeArrowheads="1"/>
          </p:cNvSpPr>
          <p:nvPr>
            <p:ph type="title"/>
          </p:nvPr>
        </p:nvSpPr>
        <p:spPr>
          <a:xfrm>
            <a:off x="762000" y="762000"/>
            <a:ext cx="7924800" cy="841375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Worst Case T(n)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/>
              <a:t>Occurs when the loop of lines 5-7 is executed as many times as possible, which is when A[] is in reverse sorted order.</a:t>
            </a:r>
            <a:r>
              <a:rPr lang="en-US">
                <a:sym typeface="Symbol" pitchFamily="18" charset="2"/>
              </a:rPr>
              <a:t> </a:t>
            </a:r>
          </a:p>
          <a:p>
            <a:pPr eaLnBrk="1" hangingPunct="1"/>
            <a:r>
              <a:rPr lang="en-US">
                <a:sym typeface="Symbol" pitchFamily="18" charset="2"/>
              </a:rPr>
              <a:t>key is A[j] from line 2</a:t>
            </a:r>
          </a:p>
          <a:p>
            <a:pPr eaLnBrk="1" hangingPunct="1"/>
            <a:r>
              <a:rPr lang="en-US">
                <a:sym typeface="Symbol" pitchFamily="18" charset="2"/>
              </a:rPr>
              <a:t>i starts at j-1 from line 4</a:t>
            </a:r>
          </a:p>
          <a:p>
            <a:pPr eaLnBrk="1" hangingPunct="1"/>
            <a:r>
              <a:rPr lang="en-US">
                <a:sym typeface="Symbol" pitchFamily="18" charset="2"/>
              </a:rPr>
              <a:t>i goes down to 0 due to line 7</a:t>
            </a:r>
          </a:p>
          <a:p>
            <a:pPr eaLnBrk="1" hangingPunct="1"/>
            <a:r>
              <a:rPr lang="en-US">
                <a:sym typeface="Symbol" pitchFamily="18" charset="2"/>
              </a:rPr>
              <a:t>So, t</a:t>
            </a:r>
            <a:r>
              <a:rPr lang="en-US" baseline="-25000">
                <a:sym typeface="Symbol" pitchFamily="18" charset="2"/>
              </a:rPr>
              <a:t>j</a:t>
            </a:r>
            <a:r>
              <a:rPr lang="en-US">
                <a:sym typeface="Symbol" pitchFamily="18" charset="2"/>
              </a:rPr>
              <a:t> in lines 5-7 is [(j-1) – 0] + 1 = j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sz="2400" i="1">
                <a:solidFill>
                  <a:srgbClr val="3333FF"/>
                </a:solidFill>
                <a:sym typeface="Symbol" pitchFamily="18" charset="2"/>
              </a:rPr>
              <a:t>The ‘1’ at the end is due to the test that fails, causing exit from the loop.</a:t>
            </a:r>
            <a:endParaRPr lang="en-US" sz="2400" i="1" baseline="-25000">
              <a:solidFill>
                <a:srgbClr val="3333FF"/>
              </a:solidFill>
              <a:sym typeface="Symbol" pitchFamily="18" charset="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76B605-576F-4535-B931-A74203AF8B31}" type="slidenum">
              <a:rPr lang="en-US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Worst Case T(n), ctd.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2270125"/>
            <a:ext cx="8001000" cy="298767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dirty="0"/>
              <a:t>T(n) = c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n-US" dirty="0">
                <a:cs typeface="Times New Roman" pitchFamily="18" charset="0"/>
              </a:rPr>
              <a:t>• [n]+ </a:t>
            </a:r>
            <a:r>
              <a:rPr lang="en-US" dirty="0"/>
              <a:t>c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 dirty="0">
                <a:cs typeface="Times New Roman" pitchFamily="18" charset="0"/>
              </a:rPr>
              <a:t>• (n-1) + </a:t>
            </a:r>
            <a:r>
              <a:rPr lang="en-US" dirty="0"/>
              <a:t>c</a:t>
            </a:r>
            <a:r>
              <a:rPr lang="en-US" baseline="-25000" dirty="0"/>
              <a:t>4</a:t>
            </a:r>
            <a:r>
              <a:rPr lang="en-US" dirty="0"/>
              <a:t> </a:t>
            </a:r>
            <a:r>
              <a:rPr lang="en-US" dirty="0">
                <a:cs typeface="Times New Roman" pitchFamily="18" charset="0"/>
              </a:rPr>
              <a:t>• (n-1)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>
                <a:cs typeface="Times New Roman" pitchFamily="18" charset="0"/>
              </a:rPr>
              <a:t>	       + c</a:t>
            </a:r>
            <a:r>
              <a:rPr lang="en-US" baseline="-25000" dirty="0">
                <a:cs typeface="Times New Roman" pitchFamily="18" charset="0"/>
              </a:rPr>
              <a:t>5</a:t>
            </a:r>
            <a:r>
              <a:rPr lang="en-US" dirty="0"/>
              <a:t> </a:t>
            </a:r>
            <a:r>
              <a:rPr lang="en-US" dirty="0">
                <a:cs typeface="Times New Roman" pitchFamily="18" charset="0"/>
              </a:rPr>
              <a:t>• (</a:t>
            </a:r>
            <a:r>
              <a:rPr lang="en-US" dirty="0">
                <a:sym typeface="Symbol" pitchFamily="18" charset="2"/>
              </a:rPr>
              <a:t></a:t>
            </a:r>
            <a:r>
              <a:rPr lang="en-US" baseline="-25000" dirty="0">
                <a:sym typeface="Symbol" pitchFamily="18" charset="2"/>
              </a:rPr>
              <a:t>j=2,n</a:t>
            </a:r>
            <a:r>
              <a:rPr lang="en-US" dirty="0">
                <a:sym typeface="Symbol" pitchFamily="18" charset="2"/>
              </a:rPr>
              <a:t> j</a:t>
            </a:r>
            <a:r>
              <a:rPr lang="en-US" dirty="0"/>
              <a:t>)+ c</a:t>
            </a:r>
            <a:r>
              <a:rPr lang="en-US" baseline="-25000" dirty="0"/>
              <a:t>6</a:t>
            </a:r>
            <a:r>
              <a:rPr lang="en-US" dirty="0"/>
              <a:t> </a:t>
            </a:r>
            <a:r>
              <a:rPr lang="en-US" dirty="0">
                <a:cs typeface="Times New Roman" pitchFamily="18" charset="0"/>
              </a:rPr>
              <a:t>• [ </a:t>
            </a:r>
            <a:r>
              <a:rPr lang="en-US" dirty="0">
                <a:sym typeface="Symbol" pitchFamily="18" charset="2"/>
              </a:rPr>
              <a:t></a:t>
            </a:r>
            <a:r>
              <a:rPr lang="en-US" baseline="-25000" dirty="0">
                <a:sym typeface="Symbol" pitchFamily="18" charset="2"/>
              </a:rPr>
              <a:t>j=2,n</a:t>
            </a:r>
            <a:r>
              <a:rPr lang="en-US" dirty="0">
                <a:sym typeface="Symbol" pitchFamily="18" charset="2"/>
              </a:rPr>
              <a:t> (j</a:t>
            </a:r>
            <a:r>
              <a:rPr lang="en-US" baseline="-25000" dirty="0">
                <a:sym typeface="Symbol" pitchFamily="18" charset="2"/>
              </a:rPr>
              <a:t> </a:t>
            </a:r>
            <a:r>
              <a:rPr lang="en-US" dirty="0"/>
              <a:t>-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/>
              <a:t>          1) ] + c</a:t>
            </a:r>
            <a:r>
              <a:rPr lang="en-US" baseline="-25000" dirty="0"/>
              <a:t>7</a:t>
            </a:r>
            <a:r>
              <a:rPr lang="en-US" dirty="0"/>
              <a:t> </a:t>
            </a:r>
            <a:r>
              <a:rPr lang="en-US" dirty="0">
                <a:cs typeface="Times New Roman" pitchFamily="18" charset="0"/>
              </a:rPr>
              <a:t>• [ </a:t>
            </a:r>
            <a:r>
              <a:rPr lang="en-US" dirty="0">
                <a:sym typeface="Symbol" pitchFamily="18" charset="2"/>
              </a:rPr>
              <a:t></a:t>
            </a:r>
            <a:r>
              <a:rPr lang="en-US" baseline="-25000" dirty="0">
                <a:sym typeface="Symbol" pitchFamily="18" charset="2"/>
              </a:rPr>
              <a:t>j=2,n</a:t>
            </a:r>
            <a:r>
              <a:rPr lang="en-US" dirty="0">
                <a:sym typeface="Symbol" pitchFamily="18" charset="2"/>
              </a:rPr>
              <a:t> (j</a:t>
            </a:r>
            <a:r>
              <a:rPr lang="en-US" baseline="-25000" dirty="0">
                <a:sym typeface="Symbol" pitchFamily="18" charset="2"/>
              </a:rPr>
              <a:t> </a:t>
            </a:r>
            <a:r>
              <a:rPr lang="en-US" dirty="0"/>
              <a:t>-1) ]</a:t>
            </a:r>
            <a:r>
              <a:rPr lang="en-US" dirty="0">
                <a:cs typeface="Times New Roman" pitchFamily="18" charset="0"/>
              </a:rPr>
              <a:t>+ </a:t>
            </a:r>
            <a:r>
              <a:rPr lang="en-US" dirty="0"/>
              <a:t>c</a:t>
            </a:r>
            <a:r>
              <a:rPr lang="en-US" baseline="-25000" dirty="0"/>
              <a:t>8</a:t>
            </a:r>
            <a:r>
              <a:rPr lang="en-US" dirty="0"/>
              <a:t> </a:t>
            </a:r>
            <a:r>
              <a:rPr lang="en-US" dirty="0">
                <a:cs typeface="Times New Roman" pitchFamily="18" charset="0"/>
              </a:rPr>
              <a:t>•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>
                <a:cs typeface="Times New Roman" pitchFamily="18" charset="0"/>
              </a:rPr>
              <a:t>          (n-1) </a:t>
            </a:r>
          </a:p>
          <a:p>
            <a:pPr eaLnBrk="1" hangingPunct="1">
              <a:buFont typeface="Wingdings" pitchFamily="2" charset="2"/>
              <a:buNone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62B425-B778-4F7F-ABA4-751928BB86DF}" type="slidenum">
              <a:rPr lang="en-US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Worst Case T(n), ctd.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2286000"/>
            <a:ext cx="7315200" cy="35814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/>
              <a:t>T(n) =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/>
              <a:t>	c</a:t>
            </a:r>
            <a:r>
              <a:rPr lang="en-US" sz="2800" baseline="-25000"/>
              <a:t>1</a:t>
            </a:r>
            <a:r>
              <a:rPr lang="en-US" sz="2800"/>
              <a:t> </a:t>
            </a:r>
            <a:r>
              <a:rPr lang="en-US" sz="2800">
                <a:cs typeface="Times New Roman" pitchFamily="18" charset="0"/>
              </a:rPr>
              <a:t>• n + </a:t>
            </a:r>
            <a:r>
              <a:rPr lang="en-US" sz="2800"/>
              <a:t>c</a:t>
            </a:r>
            <a:r>
              <a:rPr lang="en-US" sz="2800" baseline="-25000"/>
              <a:t>2</a:t>
            </a:r>
            <a:r>
              <a:rPr lang="en-US" sz="2800"/>
              <a:t> </a:t>
            </a:r>
            <a:r>
              <a:rPr lang="en-US" sz="2800">
                <a:cs typeface="Times New Roman" pitchFamily="18" charset="0"/>
              </a:rPr>
              <a:t>• (n-1) + </a:t>
            </a:r>
            <a:r>
              <a:rPr lang="en-US" sz="2800"/>
              <a:t>c</a:t>
            </a:r>
            <a:r>
              <a:rPr lang="en-US" sz="2800" baseline="-25000"/>
              <a:t>4</a:t>
            </a:r>
            <a:r>
              <a:rPr lang="en-US" sz="2800"/>
              <a:t> </a:t>
            </a:r>
            <a:r>
              <a:rPr lang="en-US" sz="2800">
                <a:cs typeface="Times New Roman" pitchFamily="18" charset="0"/>
              </a:rPr>
              <a:t>• (n-1) + </a:t>
            </a:r>
            <a:r>
              <a:rPr lang="en-US" sz="2800"/>
              <a:t>c</a:t>
            </a:r>
            <a:r>
              <a:rPr lang="en-US" sz="2800" baseline="-25000"/>
              <a:t>8</a:t>
            </a:r>
            <a:r>
              <a:rPr lang="en-US" sz="2800"/>
              <a:t> </a:t>
            </a:r>
            <a:r>
              <a:rPr lang="en-US" sz="2800">
                <a:cs typeface="Times New Roman" pitchFamily="18" charset="0"/>
              </a:rPr>
              <a:t>• (n-1)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>
                <a:cs typeface="Times New Roman" pitchFamily="18" charset="0"/>
              </a:rPr>
              <a:t>	+ c</a:t>
            </a:r>
            <a:r>
              <a:rPr lang="en-US" sz="2800" baseline="-25000">
                <a:cs typeface="Times New Roman" pitchFamily="18" charset="0"/>
              </a:rPr>
              <a:t>5</a:t>
            </a:r>
            <a:r>
              <a:rPr lang="en-US" sz="2800"/>
              <a:t> </a:t>
            </a:r>
            <a:r>
              <a:rPr lang="en-US" sz="2800">
                <a:cs typeface="Times New Roman" pitchFamily="18" charset="0"/>
              </a:rPr>
              <a:t>• (</a:t>
            </a:r>
            <a:r>
              <a:rPr lang="en-US" sz="2800">
                <a:sym typeface="Symbol" pitchFamily="18" charset="2"/>
              </a:rPr>
              <a:t></a:t>
            </a:r>
            <a:r>
              <a:rPr lang="en-US" sz="2800" baseline="-25000">
                <a:sym typeface="Symbol" pitchFamily="18" charset="2"/>
              </a:rPr>
              <a:t>j=2,n</a:t>
            </a:r>
            <a:r>
              <a:rPr lang="en-US" sz="2800">
                <a:sym typeface="Symbol" pitchFamily="18" charset="2"/>
              </a:rPr>
              <a:t> j</a:t>
            </a:r>
            <a:r>
              <a:rPr lang="en-US" sz="2800"/>
              <a:t>)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/>
              <a:t>	+ c</a:t>
            </a:r>
            <a:r>
              <a:rPr lang="en-US" sz="2800" baseline="-25000"/>
              <a:t>6</a:t>
            </a:r>
            <a:r>
              <a:rPr lang="en-US" sz="2800"/>
              <a:t> </a:t>
            </a:r>
            <a:r>
              <a:rPr lang="en-US" sz="2800">
                <a:cs typeface="Times New Roman" pitchFamily="18" charset="0"/>
              </a:rPr>
              <a:t>• [ </a:t>
            </a:r>
            <a:r>
              <a:rPr lang="en-US" sz="2800">
                <a:sym typeface="Symbol" pitchFamily="18" charset="2"/>
              </a:rPr>
              <a:t></a:t>
            </a:r>
            <a:r>
              <a:rPr lang="en-US" sz="2800" baseline="-25000">
                <a:sym typeface="Symbol" pitchFamily="18" charset="2"/>
              </a:rPr>
              <a:t>j=2,n</a:t>
            </a:r>
            <a:r>
              <a:rPr lang="en-US" sz="2800">
                <a:sym typeface="Symbol" pitchFamily="18" charset="2"/>
              </a:rPr>
              <a:t> (j</a:t>
            </a:r>
            <a:r>
              <a:rPr lang="en-US" sz="2800" baseline="-25000">
                <a:sym typeface="Symbol" pitchFamily="18" charset="2"/>
              </a:rPr>
              <a:t> </a:t>
            </a:r>
            <a:r>
              <a:rPr lang="en-US" sz="2800"/>
              <a:t>-1) ]+ c</a:t>
            </a:r>
            <a:r>
              <a:rPr lang="en-US" sz="2800" baseline="-25000"/>
              <a:t>7</a:t>
            </a:r>
            <a:r>
              <a:rPr lang="en-US" sz="2800"/>
              <a:t> </a:t>
            </a:r>
            <a:r>
              <a:rPr lang="en-US" sz="2800">
                <a:cs typeface="Times New Roman" pitchFamily="18" charset="0"/>
              </a:rPr>
              <a:t>• [ </a:t>
            </a:r>
            <a:r>
              <a:rPr lang="en-US" sz="2800">
                <a:sym typeface="Symbol" pitchFamily="18" charset="2"/>
              </a:rPr>
              <a:t></a:t>
            </a:r>
            <a:r>
              <a:rPr lang="en-US" sz="2800" baseline="-25000">
                <a:sym typeface="Symbol" pitchFamily="18" charset="2"/>
              </a:rPr>
              <a:t>j=2,n</a:t>
            </a:r>
            <a:r>
              <a:rPr lang="en-US" sz="2800">
                <a:sym typeface="Symbol" pitchFamily="18" charset="2"/>
              </a:rPr>
              <a:t> (j</a:t>
            </a:r>
            <a:r>
              <a:rPr lang="en-US" sz="2800" baseline="-25000">
                <a:sym typeface="Symbol" pitchFamily="18" charset="2"/>
              </a:rPr>
              <a:t> </a:t>
            </a:r>
            <a:r>
              <a:rPr lang="en-US" sz="2800"/>
              <a:t>-1) ]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80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/>
              <a:t>   = c</a:t>
            </a:r>
            <a:r>
              <a:rPr lang="en-US" sz="2800" baseline="-25000"/>
              <a:t>9</a:t>
            </a:r>
            <a:r>
              <a:rPr lang="en-US" sz="2800"/>
              <a:t> </a:t>
            </a:r>
            <a:r>
              <a:rPr lang="en-US" sz="2800">
                <a:cs typeface="Times New Roman" pitchFamily="18" charset="0"/>
              </a:rPr>
              <a:t>• n + c</a:t>
            </a:r>
            <a:r>
              <a:rPr lang="en-US" sz="2800" baseline="-25000">
                <a:cs typeface="Times New Roman" pitchFamily="18" charset="0"/>
              </a:rPr>
              <a:t>10</a:t>
            </a:r>
            <a:r>
              <a:rPr lang="en-US" sz="2800">
                <a:cs typeface="Times New Roman" pitchFamily="18" charset="0"/>
              </a:rPr>
              <a:t> + c</a:t>
            </a:r>
            <a:r>
              <a:rPr lang="en-US" sz="2800" baseline="-25000">
                <a:cs typeface="Times New Roman" pitchFamily="18" charset="0"/>
              </a:rPr>
              <a:t>5</a:t>
            </a:r>
            <a:r>
              <a:rPr lang="en-US" sz="2800"/>
              <a:t> </a:t>
            </a:r>
            <a:r>
              <a:rPr lang="en-US" sz="2800">
                <a:cs typeface="Times New Roman" pitchFamily="18" charset="0"/>
              </a:rPr>
              <a:t>• (</a:t>
            </a:r>
            <a:r>
              <a:rPr lang="en-US" sz="2800">
                <a:sym typeface="Symbol" pitchFamily="18" charset="2"/>
              </a:rPr>
              <a:t></a:t>
            </a:r>
            <a:r>
              <a:rPr lang="en-US" sz="2800" baseline="-25000">
                <a:sym typeface="Symbol" pitchFamily="18" charset="2"/>
              </a:rPr>
              <a:t>j=2,n</a:t>
            </a:r>
            <a:r>
              <a:rPr lang="en-US" sz="2800">
                <a:sym typeface="Symbol" pitchFamily="18" charset="2"/>
              </a:rPr>
              <a:t> j</a:t>
            </a:r>
            <a:r>
              <a:rPr lang="en-US" sz="2800"/>
              <a:t>) + c</a:t>
            </a:r>
            <a:r>
              <a:rPr lang="en-US" sz="2800" baseline="-25000"/>
              <a:t>11</a:t>
            </a:r>
            <a:r>
              <a:rPr lang="en-US" sz="2800"/>
              <a:t> </a:t>
            </a:r>
            <a:r>
              <a:rPr lang="en-US" sz="2800">
                <a:cs typeface="Times New Roman" pitchFamily="18" charset="0"/>
              </a:rPr>
              <a:t>•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>
                <a:cs typeface="Times New Roman" pitchFamily="18" charset="0"/>
              </a:rPr>
              <a:t>      [</a:t>
            </a:r>
            <a:r>
              <a:rPr lang="en-US" sz="2800">
                <a:sym typeface="Symbol" pitchFamily="18" charset="2"/>
              </a:rPr>
              <a:t></a:t>
            </a:r>
            <a:r>
              <a:rPr lang="en-US" sz="2800" baseline="-25000">
                <a:sym typeface="Symbol" pitchFamily="18" charset="2"/>
              </a:rPr>
              <a:t>j=2,n</a:t>
            </a:r>
            <a:r>
              <a:rPr lang="en-US" sz="2800">
                <a:sym typeface="Symbol" pitchFamily="18" charset="2"/>
              </a:rPr>
              <a:t> (j</a:t>
            </a:r>
            <a:r>
              <a:rPr lang="en-US" sz="2800" baseline="-25000">
                <a:sym typeface="Symbol" pitchFamily="18" charset="2"/>
              </a:rPr>
              <a:t> </a:t>
            </a:r>
            <a:r>
              <a:rPr lang="en-US" sz="2800"/>
              <a:t>-1) ]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/>
              <a:t>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3B3D9B-8A82-4A43-BABE-1503213C4A20}" type="slidenum">
              <a:rPr lang="en-US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AutoShap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990600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Worst Case T(n), ctd.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676400"/>
            <a:ext cx="7010400" cy="45720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sz="2800"/>
              <a:t>T(n) = 	c</a:t>
            </a:r>
            <a:r>
              <a:rPr lang="en-US" sz="2800" baseline="-25000"/>
              <a:t>9</a:t>
            </a:r>
            <a:r>
              <a:rPr lang="en-US" sz="2800"/>
              <a:t> </a:t>
            </a:r>
            <a:r>
              <a:rPr lang="en-US" sz="2800">
                <a:cs typeface="Times New Roman" pitchFamily="18" charset="0"/>
              </a:rPr>
              <a:t>• n + c</a:t>
            </a:r>
            <a:r>
              <a:rPr lang="en-US" sz="2800" baseline="-25000">
                <a:cs typeface="Times New Roman" pitchFamily="18" charset="0"/>
              </a:rPr>
              <a:t>10</a:t>
            </a:r>
            <a:r>
              <a:rPr lang="en-US" sz="2800">
                <a:cs typeface="Times New Roman" pitchFamily="18" charset="0"/>
              </a:rPr>
              <a:t> + c</a:t>
            </a:r>
            <a:r>
              <a:rPr lang="en-US" sz="2800" baseline="-25000">
                <a:cs typeface="Times New Roman" pitchFamily="18" charset="0"/>
              </a:rPr>
              <a:t>5</a:t>
            </a:r>
            <a:r>
              <a:rPr lang="en-US" sz="2800"/>
              <a:t> </a:t>
            </a:r>
            <a:r>
              <a:rPr lang="en-US" sz="2800">
                <a:cs typeface="Times New Roman" pitchFamily="18" charset="0"/>
              </a:rPr>
              <a:t>• (</a:t>
            </a:r>
            <a:r>
              <a:rPr lang="en-US" sz="2800">
                <a:sym typeface="Symbol" pitchFamily="18" charset="2"/>
              </a:rPr>
              <a:t></a:t>
            </a:r>
            <a:r>
              <a:rPr lang="en-US" sz="2800" baseline="-25000">
                <a:sym typeface="Symbol" pitchFamily="18" charset="2"/>
              </a:rPr>
              <a:t>j=2,n</a:t>
            </a:r>
            <a:r>
              <a:rPr lang="en-US" sz="2800">
                <a:sym typeface="Symbol" pitchFamily="18" charset="2"/>
              </a:rPr>
              <a:t> j</a:t>
            </a:r>
            <a:r>
              <a:rPr lang="en-US" sz="2800"/>
              <a:t>) + c</a:t>
            </a:r>
            <a:r>
              <a:rPr lang="en-US" sz="2800" baseline="-25000"/>
              <a:t>11</a:t>
            </a:r>
            <a:r>
              <a:rPr lang="en-US" sz="2800"/>
              <a:t> </a:t>
            </a:r>
            <a:r>
              <a:rPr lang="en-US" sz="2800">
                <a:cs typeface="Times New Roman" pitchFamily="18" charset="0"/>
              </a:rPr>
              <a:t>• [ </a:t>
            </a:r>
            <a:r>
              <a:rPr lang="en-US" sz="2800">
                <a:sym typeface="Symbol" pitchFamily="18" charset="2"/>
              </a:rPr>
              <a:t></a:t>
            </a:r>
            <a:r>
              <a:rPr lang="en-US" sz="2800" baseline="-25000">
                <a:sym typeface="Symbol" pitchFamily="18" charset="2"/>
              </a:rPr>
              <a:t>j=2,n</a:t>
            </a:r>
            <a:r>
              <a:rPr lang="en-US" sz="2800">
                <a:sym typeface="Symbol" pitchFamily="18" charset="2"/>
              </a:rPr>
              <a:t> (j</a:t>
            </a:r>
            <a:r>
              <a:rPr lang="en-US" sz="2800" baseline="-25000">
                <a:sym typeface="Symbol" pitchFamily="18" charset="2"/>
              </a:rPr>
              <a:t> </a:t>
            </a:r>
            <a:r>
              <a:rPr lang="en-US" sz="2800"/>
              <a:t>-1) ]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800"/>
              <a:t>           But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800"/>
              <a:t>	       </a:t>
            </a:r>
            <a:r>
              <a:rPr lang="en-US" sz="2800">
                <a:sym typeface="Symbol" pitchFamily="18" charset="2"/>
              </a:rPr>
              <a:t></a:t>
            </a:r>
            <a:r>
              <a:rPr lang="en-US" sz="2800" baseline="-25000">
                <a:sym typeface="Symbol" pitchFamily="18" charset="2"/>
              </a:rPr>
              <a:t>j=2,n</a:t>
            </a:r>
            <a:r>
              <a:rPr lang="en-US" sz="2800">
                <a:sym typeface="Symbol" pitchFamily="18" charset="2"/>
              </a:rPr>
              <a:t> j = [n(n+1)/2] – 1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800">
                <a:sym typeface="Symbol" pitchFamily="18" charset="2"/>
              </a:rPr>
              <a:t> so that</a:t>
            </a:r>
            <a:endParaRPr lang="en-US" sz="2800"/>
          </a:p>
          <a:p>
            <a:pPr eaLnBrk="1" hangingPunct="1">
              <a:buFont typeface="Wingdings" pitchFamily="2" charset="2"/>
              <a:buNone/>
            </a:pPr>
            <a:r>
              <a:rPr lang="en-US" sz="2800">
                <a:sym typeface="Symbol" pitchFamily="18" charset="2"/>
              </a:rPr>
              <a:t>	</a:t>
            </a:r>
            <a:r>
              <a:rPr lang="en-US" sz="2800" baseline="-25000">
                <a:sym typeface="Symbol" pitchFamily="18" charset="2"/>
              </a:rPr>
              <a:t>j=2,n</a:t>
            </a:r>
            <a:r>
              <a:rPr lang="en-US" sz="2800">
                <a:sym typeface="Symbol" pitchFamily="18" charset="2"/>
              </a:rPr>
              <a:t> (j-1) = </a:t>
            </a:r>
            <a:r>
              <a:rPr lang="en-US" sz="2800" baseline="-25000">
                <a:sym typeface="Symbol" pitchFamily="18" charset="2"/>
              </a:rPr>
              <a:t>j=2,n </a:t>
            </a:r>
            <a:r>
              <a:rPr lang="en-US" sz="2800">
                <a:sym typeface="Symbol" pitchFamily="18" charset="2"/>
              </a:rPr>
              <a:t>j – </a:t>
            </a:r>
            <a:r>
              <a:rPr lang="en-US" sz="2800" baseline="-25000">
                <a:sym typeface="Symbol" pitchFamily="18" charset="2"/>
              </a:rPr>
              <a:t>j=2,n</a:t>
            </a:r>
            <a:r>
              <a:rPr lang="en-US" sz="2800">
                <a:sym typeface="Symbol" pitchFamily="18" charset="2"/>
              </a:rPr>
              <a:t> (1)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800">
                <a:sym typeface="Symbol" pitchFamily="18" charset="2"/>
              </a:rPr>
              <a:t>		= [n(n+1)/2] – 1 – (n-2+1)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800">
                <a:sym typeface="Symbol" pitchFamily="18" charset="2"/>
              </a:rPr>
              <a:t>		= [n(n+1)/2] – 1 – n + 1 = n(n+1)/2 - 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800">
                <a:sym typeface="Symbol" pitchFamily="18" charset="2"/>
              </a:rPr>
              <a:t>		= [n(n+1)-2n]/2 = [n(n+1-2)]/2 = n(n-1)/2</a:t>
            </a:r>
          </a:p>
          <a:p>
            <a:pPr eaLnBrk="1" hangingPunct="1">
              <a:buFont typeface="Wingdings" pitchFamily="2" charset="2"/>
              <a:buNone/>
            </a:pPr>
            <a:endParaRPr lang="en-US" sz="2800">
              <a:sym typeface="Symbol" pitchFamily="18" charset="2"/>
            </a:endParaRPr>
          </a:p>
          <a:p>
            <a:pPr algn="ctr" eaLnBrk="1" hangingPunct="1">
              <a:buFont typeface="Wingdings" pitchFamily="2" charset="2"/>
              <a:buNone/>
            </a:pPr>
            <a:r>
              <a:rPr lang="en-US" sz="2800" i="1">
                <a:solidFill>
                  <a:srgbClr val="3333FF"/>
                </a:solidFill>
                <a:sym typeface="Symbol" pitchFamily="18" charset="2"/>
              </a:rPr>
              <a:t>Wasn’t that fun?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54252D-9EAE-4FD9-93EA-1E71DCF2326B}" type="slidenum">
              <a:rPr lang="en-US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Worst Case T(n), ctd.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9144000" cy="4876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dirty="0"/>
              <a:t>In conclusion,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/>
              <a:t>T(n) = c</a:t>
            </a:r>
            <a:r>
              <a:rPr lang="en-US" baseline="-25000" dirty="0"/>
              <a:t>9</a:t>
            </a:r>
            <a:r>
              <a:rPr lang="en-US" dirty="0"/>
              <a:t> </a:t>
            </a:r>
            <a:r>
              <a:rPr lang="en-US" dirty="0">
                <a:cs typeface="Times New Roman" pitchFamily="18" charset="0"/>
              </a:rPr>
              <a:t>• n + c</a:t>
            </a:r>
            <a:r>
              <a:rPr lang="en-US" baseline="-25000" dirty="0">
                <a:cs typeface="Times New Roman" pitchFamily="18" charset="0"/>
              </a:rPr>
              <a:t>10</a:t>
            </a:r>
            <a:r>
              <a:rPr lang="en-US" dirty="0">
                <a:cs typeface="Times New Roman" pitchFamily="18" charset="0"/>
              </a:rPr>
              <a:t> + c</a:t>
            </a:r>
            <a:r>
              <a:rPr lang="en-US" baseline="-25000" dirty="0">
                <a:cs typeface="Times New Roman" pitchFamily="18" charset="0"/>
              </a:rPr>
              <a:t>5</a:t>
            </a:r>
            <a:r>
              <a:rPr lang="en-US" dirty="0"/>
              <a:t> </a:t>
            </a:r>
            <a:r>
              <a:rPr lang="en-US" dirty="0">
                <a:cs typeface="Times New Roman" pitchFamily="18" charset="0"/>
              </a:rPr>
              <a:t>• </a:t>
            </a:r>
            <a:r>
              <a:rPr lang="en-US" dirty="0">
                <a:sym typeface="Symbol" pitchFamily="18" charset="2"/>
              </a:rPr>
              <a:t>[n(n+1)/2] – 1</a:t>
            </a:r>
            <a:r>
              <a:rPr lang="en-US" dirty="0"/>
              <a:t> + c</a:t>
            </a:r>
            <a:r>
              <a:rPr lang="en-US" baseline="-25000" dirty="0"/>
              <a:t>11</a:t>
            </a:r>
            <a:r>
              <a:rPr lang="en-US" dirty="0"/>
              <a:t> </a:t>
            </a:r>
            <a:r>
              <a:rPr lang="en-US" dirty="0">
                <a:cs typeface="Times New Roman" pitchFamily="18" charset="0"/>
              </a:rPr>
              <a:t>• </a:t>
            </a:r>
            <a:r>
              <a:rPr lang="en-US" dirty="0">
                <a:sym typeface="Symbol" pitchFamily="18" charset="2"/>
              </a:rPr>
              <a:t>n(n-1)/2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>
                <a:sym typeface="Symbol" pitchFamily="18" charset="2"/>
              </a:rPr>
              <a:t>	= c</a:t>
            </a:r>
            <a:r>
              <a:rPr lang="en-US" baseline="-25000" dirty="0">
                <a:sym typeface="Symbol" pitchFamily="18" charset="2"/>
              </a:rPr>
              <a:t>12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>
                <a:cs typeface="Times New Roman" pitchFamily="18" charset="0"/>
              </a:rPr>
              <a:t>• n</a:t>
            </a:r>
            <a:r>
              <a:rPr lang="en-US" baseline="30000" dirty="0">
                <a:cs typeface="Times New Roman" pitchFamily="18" charset="0"/>
              </a:rPr>
              <a:t>2</a:t>
            </a:r>
            <a:r>
              <a:rPr lang="en-US" dirty="0">
                <a:cs typeface="Times New Roman" pitchFamily="18" charset="0"/>
              </a:rPr>
              <a:t> + </a:t>
            </a:r>
            <a:r>
              <a:rPr lang="en-US" dirty="0"/>
              <a:t>c</a:t>
            </a:r>
            <a:r>
              <a:rPr lang="en-US" baseline="-25000" dirty="0"/>
              <a:t>13</a:t>
            </a:r>
            <a:r>
              <a:rPr lang="en-US" dirty="0"/>
              <a:t> </a:t>
            </a:r>
            <a:r>
              <a:rPr lang="en-US" dirty="0">
                <a:cs typeface="Times New Roman" pitchFamily="18" charset="0"/>
              </a:rPr>
              <a:t>• n + c</a:t>
            </a:r>
            <a:r>
              <a:rPr lang="en-US" baseline="-25000" dirty="0">
                <a:cs typeface="Times New Roman" pitchFamily="18" charset="0"/>
              </a:rPr>
              <a:t>14</a:t>
            </a:r>
            <a:r>
              <a:rPr lang="en-US" dirty="0">
                <a:cs typeface="Times New Roman" pitchFamily="18" charset="0"/>
              </a:rPr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>
                <a:cs typeface="Times New Roman" pitchFamily="18" charset="0"/>
              </a:rPr>
              <a:t>	= </a:t>
            </a:r>
            <a:r>
              <a:rPr lang="en-US" dirty="0">
                <a:cs typeface="Times New Roman" pitchFamily="18" charset="0"/>
                <a:sym typeface="Symbol" pitchFamily="18" charset="2"/>
              </a:rPr>
              <a:t>f</a:t>
            </a:r>
            <a:r>
              <a:rPr lang="en-US" baseline="-25000" dirty="0">
                <a:cs typeface="Times New Roman" pitchFamily="18" charset="0"/>
                <a:sym typeface="Symbol" pitchFamily="18" charset="2"/>
              </a:rPr>
              <a:t>1</a:t>
            </a:r>
            <a:r>
              <a:rPr lang="en-US" dirty="0">
                <a:cs typeface="Times New Roman" pitchFamily="18" charset="0"/>
                <a:sym typeface="Symbol" pitchFamily="18" charset="2"/>
              </a:rPr>
              <a:t>(n</a:t>
            </a:r>
            <a:r>
              <a:rPr lang="en-US" baseline="30000" dirty="0">
                <a:cs typeface="Times New Roman" pitchFamily="18" charset="0"/>
                <a:sym typeface="Symbol" pitchFamily="18" charset="2"/>
              </a:rPr>
              <a:t>2</a:t>
            </a:r>
            <a:r>
              <a:rPr lang="en-US" dirty="0">
                <a:cs typeface="Times New Roman" pitchFamily="18" charset="0"/>
                <a:sym typeface="Symbol" pitchFamily="18" charset="2"/>
              </a:rPr>
              <a:t>) + f</a:t>
            </a:r>
            <a:r>
              <a:rPr lang="en-US" baseline="-25000" dirty="0">
                <a:cs typeface="Times New Roman" pitchFamily="18" charset="0"/>
                <a:sym typeface="Symbol" pitchFamily="18" charset="2"/>
              </a:rPr>
              <a:t>2</a:t>
            </a:r>
            <a:r>
              <a:rPr lang="en-US" dirty="0">
                <a:cs typeface="Times New Roman" pitchFamily="18" charset="0"/>
                <a:sym typeface="Symbol" pitchFamily="18" charset="2"/>
              </a:rPr>
              <a:t>(n</a:t>
            </a:r>
            <a:r>
              <a:rPr lang="en-US" baseline="30000" dirty="0">
                <a:cs typeface="Times New Roman" pitchFamily="18" charset="0"/>
                <a:sym typeface="Symbol" pitchFamily="18" charset="2"/>
              </a:rPr>
              <a:t>1</a:t>
            </a:r>
            <a:r>
              <a:rPr lang="en-US" dirty="0">
                <a:cs typeface="Times New Roman" pitchFamily="18" charset="0"/>
                <a:sym typeface="Symbol" pitchFamily="18" charset="2"/>
              </a:rPr>
              <a:t>) + f</a:t>
            </a:r>
            <a:r>
              <a:rPr lang="en-US" baseline="-25000" dirty="0">
                <a:cs typeface="Times New Roman" pitchFamily="18" charset="0"/>
                <a:sym typeface="Symbol" pitchFamily="18" charset="2"/>
              </a:rPr>
              <a:t>3</a:t>
            </a:r>
            <a:r>
              <a:rPr lang="en-US" dirty="0">
                <a:cs typeface="Times New Roman" pitchFamily="18" charset="0"/>
                <a:sym typeface="Symbol" pitchFamily="18" charset="2"/>
              </a:rPr>
              <a:t>(n</a:t>
            </a:r>
            <a:r>
              <a:rPr lang="en-US" baseline="30000" dirty="0">
                <a:cs typeface="Times New Roman" pitchFamily="18" charset="0"/>
                <a:sym typeface="Symbol" pitchFamily="18" charset="2"/>
              </a:rPr>
              <a:t>0</a:t>
            </a:r>
            <a:r>
              <a:rPr lang="en-US" dirty="0">
                <a:cs typeface="Times New Roman" pitchFamily="18" charset="0"/>
                <a:sym typeface="Symbol" pitchFamily="18" charset="2"/>
              </a:rPr>
              <a:t>)</a:t>
            </a:r>
            <a:endParaRPr lang="en-US" dirty="0"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dirty="0"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dirty="0"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247AED-C07B-4A85-8717-2942D520DF52}" type="slidenum">
              <a:rPr lang="en-US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Best/Worst/Average Case (2)</a:t>
            </a:r>
          </a:p>
        </p:txBody>
      </p:sp>
      <p:sp>
        <p:nvSpPr>
          <p:cNvPr id="2052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524000"/>
            <a:ext cx="7693025" cy="736600"/>
          </a:xfrm>
        </p:spPr>
        <p:txBody>
          <a:bodyPr/>
          <a:lstStyle/>
          <a:p>
            <a:pPr lvl="1" eaLnBrk="1" hangingPunct="1">
              <a:lnSpc>
                <a:spcPct val="90000"/>
              </a:lnSpc>
            </a:pPr>
            <a:r>
              <a:rPr lang="en-US" sz="2000"/>
              <a:t>For a specific size of input </a:t>
            </a:r>
            <a:r>
              <a:rPr lang="en-US" sz="2000" i="1"/>
              <a:t>n</a:t>
            </a:r>
            <a:r>
              <a:rPr lang="en-US" sz="2000"/>
              <a:t>, investigate running times for different input instances:</a:t>
            </a:r>
          </a:p>
          <a:p>
            <a:pPr lvl="1" eaLnBrk="1" hangingPunct="1">
              <a:lnSpc>
                <a:spcPct val="90000"/>
              </a:lnSpc>
            </a:pPr>
            <a:endParaRPr lang="en-US" sz="200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31D10E-28BB-451F-B509-311F5F1FC9E1}" type="slidenum">
              <a:rPr lang="en-US"/>
              <a:pPr>
                <a:defRPr/>
              </a:pPr>
              <a:t>14</a:t>
            </a:fld>
            <a:endParaRPr lang="en-US" dirty="0"/>
          </a:p>
        </p:txBody>
      </p:sp>
      <p:graphicFrame>
        <p:nvGraphicFramePr>
          <p:cNvPr id="2050" name="Object 4"/>
          <p:cNvGraphicFramePr>
            <a:graphicFrameLocks noChangeAspect="1"/>
          </p:cNvGraphicFramePr>
          <p:nvPr/>
        </p:nvGraphicFramePr>
        <p:xfrm>
          <a:off x="533400" y="1654175"/>
          <a:ext cx="6284913" cy="4014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6695238" imgH="4277322" progId="">
                  <p:embed/>
                </p:oleObj>
              </mc:Choice>
              <mc:Fallback>
                <p:oleObj name="Photo Editor Photo" r:id="rId2" imgW="6695238" imgH="4277322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654175"/>
                        <a:ext cx="6284913" cy="4014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4" name="Rectangle 5"/>
          <p:cNvSpPr>
            <a:spLocks noChangeArrowheads="1"/>
          </p:cNvSpPr>
          <p:nvPr/>
        </p:nvSpPr>
        <p:spPr bwMode="auto">
          <a:xfrm>
            <a:off x="995363" y="1905000"/>
            <a:ext cx="373062" cy="304482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2055" name="Text Box 6"/>
          <p:cNvSpPr txBox="1">
            <a:spLocks noChangeArrowheads="1"/>
          </p:cNvSpPr>
          <p:nvPr/>
        </p:nvSpPr>
        <p:spPr bwMode="auto">
          <a:xfrm>
            <a:off x="974725" y="4440238"/>
            <a:ext cx="3873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Times New Roman" pitchFamily="18" charset="0"/>
              </a:rPr>
              <a:t>1n</a:t>
            </a:r>
          </a:p>
        </p:txBody>
      </p:sp>
      <p:sp>
        <p:nvSpPr>
          <p:cNvPr id="2056" name="Text Box 7"/>
          <p:cNvSpPr txBox="1">
            <a:spLocks noChangeArrowheads="1"/>
          </p:cNvSpPr>
          <p:nvPr/>
        </p:nvSpPr>
        <p:spPr bwMode="auto">
          <a:xfrm>
            <a:off x="974725" y="4006850"/>
            <a:ext cx="3873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>
                <a:latin typeface="Times New Roman" pitchFamily="18" charset="0"/>
              </a:rPr>
              <a:t>2n</a:t>
            </a:r>
          </a:p>
        </p:txBody>
      </p:sp>
      <p:sp>
        <p:nvSpPr>
          <p:cNvPr id="2057" name="Text Box 8"/>
          <p:cNvSpPr txBox="1">
            <a:spLocks noChangeArrowheads="1"/>
          </p:cNvSpPr>
          <p:nvPr/>
        </p:nvSpPr>
        <p:spPr bwMode="auto">
          <a:xfrm>
            <a:off x="974725" y="3573463"/>
            <a:ext cx="3873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Times New Roman" pitchFamily="18" charset="0"/>
              </a:rPr>
              <a:t>3n</a:t>
            </a:r>
          </a:p>
        </p:txBody>
      </p:sp>
      <p:sp>
        <p:nvSpPr>
          <p:cNvPr id="2058" name="Text Box 9"/>
          <p:cNvSpPr txBox="1">
            <a:spLocks noChangeArrowheads="1"/>
          </p:cNvSpPr>
          <p:nvPr/>
        </p:nvSpPr>
        <p:spPr bwMode="auto">
          <a:xfrm>
            <a:off x="974725" y="3141663"/>
            <a:ext cx="3873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Times New Roman" pitchFamily="18" charset="0"/>
              </a:rPr>
              <a:t>4n</a:t>
            </a:r>
          </a:p>
        </p:txBody>
      </p:sp>
      <p:sp>
        <p:nvSpPr>
          <p:cNvPr id="2059" name="Text Box 10"/>
          <p:cNvSpPr txBox="1">
            <a:spLocks noChangeArrowheads="1"/>
          </p:cNvSpPr>
          <p:nvPr/>
        </p:nvSpPr>
        <p:spPr bwMode="auto">
          <a:xfrm>
            <a:off x="974725" y="2708275"/>
            <a:ext cx="3873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Times New Roman" pitchFamily="18" charset="0"/>
              </a:rPr>
              <a:t>5n</a:t>
            </a:r>
          </a:p>
        </p:txBody>
      </p:sp>
      <p:sp>
        <p:nvSpPr>
          <p:cNvPr id="2060" name="Text Box 11"/>
          <p:cNvSpPr txBox="1">
            <a:spLocks noChangeArrowheads="1"/>
          </p:cNvSpPr>
          <p:nvPr/>
        </p:nvSpPr>
        <p:spPr bwMode="auto">
          <a:xfrm>
            <a:off x="974725" y="2276475"/>
            <a:ext cx="3873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Times New Roman" pitchFamily="18" charset="0"/>
              </a:rPr>
              <a:t>6n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insertion sort a fast sorting algorithm?</a:t>
            </a:r>
          </a:p>
          <a:p>
            <a:pPr lvl="1"/>
            <a:r>
              <a:rPr lang="en-US" dirty="0"/>
              <a:t>Moderately so, for small n</a:t>
            </a:r>
          </a:p>
          <a:p>
            <a:pPr lvl="1"/>
            <a:r>
              <a:rPr lang="en-US" dirty="0"/>
              <a:t>Not at all, for large 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A5F62-41D1-4BDE-98B4-A345B8163154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0550191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0</TotalTime>
  <Words>1247</Words>
  <Application>Microsoft Office PowerPoint</Application>
  <PresentationFormat>On-screen Show (4:3)</PresentationFormat>
  <Paragraphs>135</Paragraphs>
  <Slides>15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Courier New</vt:lpstr>
      <vt:lpstr>Garamond</vt:lpstr>
      <vt:lpstr>Symbol</vt:lpstr>
      <vt:lpstr>Times New Roman</vt:lpstr>
      <vt:lpstr>Wingdings</vt:lpstr>
      <vt:lpstr>Edge</vt:lpstr>
      <vt:lpstr>Equation</vt:lpstr>
      <vt:lpstr>Photo Editor Photo</vt:lpstr>
      <vt:lpstr>   Design and Analysis of Algorithms</vt:lpstr>
      <vt:lpstr>Example Sorting (Insertion Sort)</vt:lpstr>
      <vt:lpstr>Running time of Insertion Sort</vt:lpstr>
      <vt:lpstr>Kinds of Analyses</vt:lpstr>
      <vt:lpstr>Analysis of Insertion Sort</vt:lpstr>
      <vt:lpstr>Insertion-Sort Running Time</vt:lpstr>
      <vt:lpstr>Best/Worst/Average Case</vt:lpstr>
      <vt:lpstr>Best Case Result</vt:lpstr>
      <vt:lpstr>Worst Case T(n)</vt:lpstr>
      <vt:lpstr>Worst Case T(n), ctd.</vt:lpstr>
      <vt:lpstr>Worst Case T(n), ctd.</vt:lpstr>
      <vt:lpstr>Worst Case T(n), ctd.</vt:lpstr>
      <vt:lpstr>Worst Case T(n), ctd.</vt:lpstr>
      <vt:lpstr>Best/Worst/Average Case (2)</vt:lpstr>
      <vt:lpstr>Insertion Sort Analysis</vt:lpstr>
    </vt:vector>
  </TitlesOfParts>
  <Company>UIBK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Lecture-2-4</dc:title>
  <dc:creator>Dr. Kashif Munir</dc:creator>
  <cp:lastModifiedBy>FAHEEM SHAUKAT</cp:lastModifiedBy>
  <cp:revision>730</cp:revision>
  <dcterms:created xsi:type="dcterms:W3CDTF">2005-10-13T05:19:49Z</dcterms:created>
  <dcterms:modified xsi:type="dcterms:W3CDTF">2026-03-29T20:23:49Z</dcterms:modified>
</cp:coreProperties>
</file>